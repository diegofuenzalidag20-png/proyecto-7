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ouvlo" charset="1" panose="020B0604030403020204"/>
      <p:regular r:id="rId19"/>
    </p:embeddedFont>
    <p:embeddedFont>
      <p:font typeface="Proxima Nova Condensed Bold" charset="1" panose="02000506030000020004"/>
      <p:regular r:id="rId20"/>
    </p:embeddedFont>
    <p:embeddedFont>
      <p:font typeface="Proxima Nova Condensed" charset="1" panose="02000506030000020004"/>
      <p:regular r:id="rId21"/>
    </p:embeddedFont>
    <p:embeddedFont>
      <p:font typeface="Touvlo Bold" charset="1" panose="020B0804030403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49910" y="1256976"/>
            <a:ext cx="7890854" cy="8233247"/>
            <a:chOff x="0" y="0"/>
            <a:chExt cx="859274" cy="896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9274" cy="896559"/>
            </a:xfrm>
            <a:custGeom>
              <a:avLst/>
              <a:gdLst/>
              <a:ahLst/>
              <a:cxnLst/>
              <a:rect r="r" b="b" t="t" l="l"/>
              <a:pathLst>
                <a:path h="896559" w="859274">
                  <a:moveTo>
                    <a:pt x="61811" y="0"/>
                  </a:moveTo>
                  <a:lnTo>
                    <a:pt x="797463" y="0"/>
                  </a:lnTo>
                  <a:cubicBezTo>
                    <a:pt x="813857" y="0"/>
                    <a:pt x="829579" y="6512"/>
                    <a:pt x="841170" y="18104"/>
                  </a:cubicBezTo>
                  <a:cubicBezTo>
                    <a:pt x="852762" y="29696"/>
                    <a:pt x="859274" y="45418"/>
                    <a:pt x="859274" y="61811"/>
                  </a:cubicBezTo>
                  <a:lnTo>
                    <a:pt x="859274" y="834748"/>
                  </a:lnTo>
                  <a:cubicBezTo>
                    <a:pt x="859274" y="851142"/>
                    <a:pt x="852762" y="866864"/>
                    <a:pt x="841170" y="878455"/>
                  </a:cubicBezTo>
                  <a:cubicBezTo>
                    <a:pt x="829579" y="890047"/>
                    <a:pt x="813857" y="896559"/>
                    <a:pt x="797463" y="896559"/>
                  </a:cubicBezTo>
                  <a:lnTo>
                    <a:pt x="61811" y="896559"/>
                  </a:lnTo>
                  <a:cubicBezTo>
                    <a:pt x="45418" y="896559"/>
                    <a:pt x="29696" y="890047"/>
                    <a:pt x="18104" y="878455"/>
                  </a:cubicBezTo>
                  <a:cubicBezTo>
                    <a:pt x="6512" y="866864"/>
                    <a:pt x="0" y="851142"/>
                    <a:pt x="0" y="834748"/>
                  </a:cubicBezTo>
                  <a:lnTo>
                    <a:pt x="0" y="61811"/>
                  </a:lnTo>
                  <a:cubicBezTo>
                    <a:pt x="0" y="45418"/>
                    <a:pt x="6512" y="29696"/>
                    <a:pt x="18104" y="18104"/>
                  </a:cubicBezTo>
                  <a:cubicBezTo>
                    <a:pt x="29696" y="6512"/>
                    <a:pt x="45418" y="0"/>
                    <a:pt x="6181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44" r="0" b="-24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147322" y="6445630"/>
            <a:ext cx="4824827" cy="4824827"/>
          </a:xfrm>
          <a:custGeom>
            <a:avLst/>
            <a:gdLst/>
            <a:ahLst/>
            <a:cxnLst/>
            <a:rect r="r" b="b" t="t" l="l"/>
            <a:pathLst>
              <a:path h="4824827" w="4824827">
                <a:moveTo>
                  <a:pt x="0" y="0"/>
                </a:moveTo>
                <a:lnTo>
                  <a:pt x="4824827" y="0"/>
                </a:lnTo>
                <a:lnTo>
                  <a:pt x="4824827" y="4824827"/>
                </a:lnTo>
                <a:lnTo>
                  <a:pt x="0" y="48248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0649910" y="-127711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252056" y="731656"/>
            <a:ext cx="7720093" cy="1644729"/>
            <a:chOff x="0" y="0"/>
            <a:chExt cx="1907576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7576" cy="406400"/>
            </a:xfrm>
            <a:custGeom>
              <a:avLst/>
              <a:gdLst/>
              <a:ahLst/>
              <a:cxnLst/>
              <a:rect r="r" b="b" t="t" l="l"/>
              <a:pathLst>
                <a:path h="406400" w="1907576">
                  <a:moveTo>
                    <a:pt x="1704376" y="0"/>
                  </a:moveTo>
                  <a:cubicBezTo>
                    <a:pt x="1816600" y="0"/>
                    <a:pt x="1907576" y="90976"/>
                    <a:pt x="1907576" y="203200"/>
                  </a:cubicBezTo>
                  <a:cubicBezTo>
                    <a:pt x="1907576" y="315424"/>
                    <a:pt x="1816600" y="406400"/>
                    <a:pt x="170437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0757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4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959932"/>
            <a:ext cx="4465841" cy="594089"/>
            <a:chOff x="0" y="0"/>
            <a:chExt cx="5954454" cy="79211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938431" y="222704"/>
              <a:ext cx="5016023" cy="394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75"/>
                </a:lnSpc>
              </a:pPr>
              <a:r>
                <a:rPr lang="en-US" sz="2175" u="none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Bootcamp Ciencia de Datos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5624" cy="792118"/>
            </a:xfrm>
            <a:custGeom>
              <a:avLst/>
              <a:gdLst/>
              <a:ahLst/>
              <a:cxnLst/>
              <a:rect r="r" b="b" t="t" l="l"/>
              <a:pathLst>
                <a:path h="792118" w="695624">
                  <a:moveTo>
                    <a:pt x="0" y="0"/>
                  </a:moveTo>
                  <a:lnTo>
                    <a:pt x="695624" y="0"/>
                  </a:lnTo>
                  <a:lnTo>
                    <a:pt x="695624" y="792118"/>
                  </a:lnTo>
                  <a:lnTo>
                    <a:pt x="0" y="79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2267655"/>
            <a:ext cx="8953942" cy="6002340"/>
            <a:chOff x="0" y="0"/>
            <a:chExt cx="11938589" cy="800312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219075"/>
              <a:ext cx="11938589" cy="6000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523"/>
                </a:lnSpc>
              </a:pPr>
              <a:r>
                <a:rPr lang="en-US" b="true" sz="11523">
                  <a:solidFill>
                    <a:srgbClr val="FFFFF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Predicción de Aspiraciones Profesionales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555744"/>
              <a:ext cx="11938589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</a:pPr>
              <a:r>
                <a:rPr lang="en-US" sz="3199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en la Generación Z usando Machine Learning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54982" y="1143674"/>
            <a:ext cx="2841358" cy="820683"/>
            <a:chOff x="0" y="0"/>
            <a:chExt cx="3788478" cy="109424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599474"/>
              <a:ext cx="3788478" cy="494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71"/>
                </a:lnSpc>
                <a:spcBef>
                  <a:spcPct val="0"/>
                </a:spcBef>
              </a:pPr>
              <a:r>
                <a:rPr lang="en-US" sz="2265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Módulo 7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3788478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Proxima Nova Condensed"/>
                  <a:ea typeface="Proxima Nova Condensed"/>
                  <a:cs typeface="Proxima Nova Condensed"/>
                  <a:sym typeface="Proxima Nova Condensed"/>
                </a:rPr>
                <a:t>PRESENTADO 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175452" y="1143674"/>
            <a:ext cx="2886020" cy="820683"/>
            <a:chOff x="0" y="0"/>
            <a:chExt cx="3848027" cy="109424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599474"/>
              <a:ext cx="3848027" cy="494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71"/>
                </a:lnSpc>
                <a:spcBef>
                  <a:spcPct val="0"/>
                </a:spcBef>
              </a:pPr>
              <a:r>
                <a:rPr lang="en-US" sz="2265">
                  <a:solidFill>
                    <a:srgbClr val="FFFFFF"/>
                  </a:solidFill>
                  <a:latin typeface="Touvlo"/>
                  <a:ea typeface="Touvlo"/>
                  <a:cs typeface="Touvlo"/>
                  <a:sym typeface="Touvlo"/>
                </a:rPr>
                <a:t>Diego Fuenzalida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47625"/>
              <a:ext cx="3848027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Proxima Nova Condensed"/>
                  <a:ea typeface="Proxima Nova Condensed"/>
                  <a:cs typeface="Proxima Nova Condensed"/>
                  <a:sym typeface="Proxima Nova Condensed"/>
                </a:rPr>
                <a:t>PRESENTADO POR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00053" y="-932903"/>
            <a:ext cx="9296751" cy="13097705"/>
            <a:chOff x="0" y="0"/>
            <a:chExt cx="450723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59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505960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252730" y="4523740"/>
                    <a:pt x="562610" y="4522470"/>
                  </a:cubicBezTo>
                  <a:cubicBezTo>
                    <a:pt x="873760" y="4521200"/>
                    <a:pt x="1126490" y="4773930"/>
                    <a:pt x="1125220" y="5085080"/>
                  </a:cubicBezTo>
                  <a:lnTo>
                    <a:pt x="1123950" y="5787390"/>
                  </a:lnTo>
                  <a:cubicBezTo>
                    <a:pt x="1123950" y="6098540"/>
                    <a:pt x="1375410" y="6350000"/>
                    <a:pt x="1685290" y="6350000"/>
                  </a:cubicBezTo>
                  <a:lnTo>
                    <a:pt x="3944620" y="6350000"/>
                  </a:lnTo>
                  <a:cubicBezTo>
                    <a:pt x="4254500" y="6350000"/>
                    <a:pt x="4505960" y="6098540"/>
                    <a:pt x="4505960" y="5788660"/>
                  </a:cubicBezTo>
                  <a:lnTo>
                    <a:pt x="4505960" y="2679700"/>
                  </a:lnTo>
                  <a:cubicBezTo>
                    <a:pt x="4505960" y="2494280"/>
                    <a:pt x="4414520" y="2321560"/>
                    <a:pt x="4262120" y="2217420"/>
                  </a:cubicBezTo>
                  <a:lnTo>
                    <a:pt x="1184910" y="99060"/>
                  </a:lnTo>
                  <a:cubicBezTo>
                    <a:pt x="1090930" y="34290"/>
                    <a:pt x="980440" y="0"/>
                    <a:pt x="866140" y="0"/>
                  </a:cubicBezTo>
                  <a:lnTo>
                    <a:pt x="561340" y="0"/>
                  </a:lnTo>
                  <a:cubicBezTo>
                    <a:pt x="251460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2"/>
              <a:stretch>
                <a:fillRect l="0" t="-148" r="0" b="-1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178080" y="-4174624"/>
            <a:ext cx="2211047" cy="12617694"/>
            <a:chOff x="0" y="0"/>
            <a:chExt cx="647480" cy="36949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480" cy="3694947"/>
            </a:xfrm>
            <a:custGeom>
              <a:avLst/>
              <a:gdLst/>
              <a:ahLst/>
              <a:cxnLst/>
              <a:rect r="r" b="b" t="t" l="l"/>
              <a:pathLst>
                <a:path h="3694947" w="647480">
                  <a:moveTo>
                    <a:pt x="215943" y="19070"/>
                  </a:moveTo>
                  <a:cubicBezTo>
                    <a:pt x="249031" y="7556"/>
                    <a:pt x="286876" y="0"/>
                    <a:pt x="323914" y="0"/>
                  </a:cubicBezTo>
                  <a:cubicBezTo>
                    <a:pt x="360954" y="0"/>
                    <a:pt x="396595" y="6476"/>
                    <a:pt x="429440" y="17990"/>
                  </a:cubicBezTo>
                  <a:cubicBezTo>
                    <a:pt x="430139" y="18350"/>
                    <a:pt x="430838" y="18350"/>
                    <a:pt x="431536" y="18710"/>
                  </a:cubicBezTo>
                  <a:cubicBezTo>
                    <a:pt x="554883" y="64765"/>
                    <a:pt x="645733" y="186379"/>
                    <a:pt x="647480" y="392523"/>
                  </a:cubicBezTo>
                  <a:lnTo>
                    <a:pt x="647480" y="3694947"/>
                  </a:lnTo>
                  <a:lnTo>
                    <a:pt x="0" y="3694947"/>
                  </a:lnTo>
                  <a:lnTo>
                    <a:pt x="0" y="394973"/>
                  </a:lnTo>
                  <a:cubicBezTo>
                    <a:pt x="1747" y="185660"/>
                    <a:pt x="91199" y="64045"/>
                    <a:pt x="215943" y="190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8425"/>
              <a:ext cx="647480" cy="359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-437444" y="7150166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9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9" y="4216268"/>
                </a:lnTo>
                <a:lnTo>
                  <a:pt x="42162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84447" y="725929"/>
            <a:ext cx="4149706" cy="7980204"/>
          </a:xfrm>
          <a:custGeom>
            <a:avLst/>
            <a:gdLst/>
            <a:ahLst/>
            <a:cxnLst/>
            <a:rect r="r" b="b" t="t" l="l"/>
            <a:pathLst>
              <a:path h="7980204" w="4149706">
                <a:moveTo>
                  <a:pt x="0" y="0"/>
                </a:moveTo>
                <a:lnTo>
                  <a:pt x="4149706" y="0"/>
                </a:lnTo>
                <a:lnTo>
                  <a:pt x="4149706" y="7980204"/>
                </a:lnTo>
                <a:lnTo>
                  <a:pt x="0" y="79802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624638"/>
            <a:ext cx="9142043" cy="119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89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Generación 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703841"/>
            <a:ext cx="5500249" cy="2901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70"/>
              </a:lnSpc>
              <a:spcBef>
                <a:spcPct val="0"/>
              </a:spcBef>
            </a:pPr>
            <a:r>
              <a:rPr lang="en-US" sz="2764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La Generación Z presenta una </a:t>
            </a:r>
            <a:r>
              <a:rPr lang="en-US" b="true" sz="2764" u="none">
                <a:solidFill>
                  <a:srgbClr val="FFFFFF"/>
                </a:solidFill>
                <a:latin typeface="Touvlo Bold"/>
                <a:ea typeface="Touvlo Bold"/>
                <a:cs typeface="Touvlo Bold"/>
                <a:sym typeface="Touvlo Bold"/>
              </a:rPr>
              <a:t>diversidad notable</a:t>
            </a:r>
            <a:r>
              <a:rPr lang="en-US" sz="2764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en sus aspiraciones profesionales, impulsadas por la tecnología y un deseo de impacto social en el mundo laboral.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94135" y="4716031"/>
            <a:ext cx="4575003" cy="4575003"/>
          </a:xfrm>
          <a:custGeom>
            <a:avLst/>
            <a:gdLst/>
            <a:ahLst/>
            <a:cxnLst/>
            <a:rect r="r" b="b" t="t" l="l"/>
            <a:pathLst>
              <a:path h="4575003" w="4575003">
                <a:moveTo>
                  <a:pt x="0" y="0"/>
                </a:moveTo>
                <a:lnTo>
                  <a:pt x="4575002" y="0"/>
                </a:lnTo>
                <a:lnTo>
                  <a:pt x="4575002" y="4575003"/>
                </a:lnTo>
                <a:lnTo>
                  <a:pt x="0" y="4575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89614" y="621508"/>
            <a:ext cx="9795257" cy="9119384"/>
            <a:chOff x="0" y="0"/>
            <a:chExt cx="6350000" cy="5911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68580" y="0"/>
              <a:ext cx="6417310" cy="5911850"/>
            </a:xfrm>
            <a:custGeom>
              <a:avLst/>
              <a:gdLst/>
              <a:ahLst/>
              <a:cxnLst/>
              <a:rect r="r" b="b" t="t" l="l"/>
              <a:pathLst>
                <a:path h="5911850" w="641731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2"/>
              <a:stretch>
                <a:fillRect l="-336" t="0" r="-33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589313" y="-3360813"/>
            <a:ext cx="2211047" cy="10175689"/>
            <a:chOff x="0" y="0"/>
            <a:chExt cx="647480" cy="2979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480" cy="2979834"/>
            </a:xfrm>
            <a:custGeom>
              <a:avLst/>
              <a:gdLst/>
              <a:ahLst/>
              <a:cxnLst/>
              <a:rect r="r" b="b" t="t" l="l"/>
              <a:pathLst>
                <a:path h="2979834" w="647480">
                  <a:moveTo>
                    <a:pt x="215943" y="19070"/>
                  </a:moveTo>
                  <a:cubicBezTo>
                    <a:pt x="249031" y="7556"/>
                    <a:pt x="286876" y="0"/>
                    <a:pt x="323914" y="0"/>
                  </a:cubicBezTo>
                  <a:cubicBezTo>
                    <a:pt x="360954" y="0"/>
                    <a:pt x="396595" y="6476"/>
                    <a:pt x="429440" y="17990"/>
                  </a:cubicBezTo>
                  <a:cubicBezTo>
                    <a:pt x="430139" y="18350"/>
                    <a:pt x="430838" y="18350"/>
                    <a:pt x="431536" y="18710"/>
                  </a:cubicBezTo>
                  <a:cubicBezTo>
                    <a:pt x="554883" y="64765"/>
                    <a:pt x="645733" y="186379"/>
                    <a:pt x="647480" y="376638"/>
                  </a:cubicBezTo>
                  <a:lnTo>
                    <a:pt x="647480" y="2979834"/>
                  </a:lnTo>
                  <a:lnTo>
                    <a:pt x="0" y="2979834"/>
                  </a:lnTo>
                  <a:lnTo>
                    <a:pt x="0" y="378570"/>
                  </a:lnTo>
                  <a:cubicBezTo>
                    <a:pt x="1747" y="185660"/>
                    <a:pt x="91199" y="64045"/>
                    <a:pt x="215943" y="19070"/>
                  </a:cubicBez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7950"/>
              <a:ext cx="647480" cy="2871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5400000">
            <a:off x="4602505" y="-630714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45681" y="5820268"/>
            <a:ext cx="5761987" cy="5761987"/>
          </a:xfrm>
          <a:custGeom>
            <a:avLst/>
            <a:gdLst/>
            <a:ahLst/>
            <a:cxnLst/>
            <a:rect r="r" b="b" t="t" l="l"/>
            <a:pathLst>
              <a:path h="5761987" w="5761987">
                <a:moveTo>
                  <a:pt x="0" y="0"/>
                </a:moveTo>
                <a:lnTo>
                  <a:pt x="5761987" y="0"/>
                </a:lnTo>
                <a:lnTo>
                  <a:pt x="5761987" y="5761987"/>
                </a:lnTo>
                <a:lnTo>
                  <a:pt x="0" y="5761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26149" y="1171575"/>
            <a:ext cx="9256533" cy="1984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  <a:r>
              <a:rPr lang="en-US" b="true" sz="7671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Objetivo del</a:t>
            </a:r>
            <a:r>
              <a:rPr lang="en-US" b="true" sz="7671" strike="noStrike" u="non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 Proyecto</a:t>
            </a:r>
          </a:p>
          <a:p>
            <a:pPr algn="l" marL="0" indent="0" lvl="0">
              <a:lnSpc>
                <a:spcPts val="767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218401" y="4427074"/>
            <a:ext cx="9040899" cy="272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8"/>
              </a:lnSpc>
            </a:pPr>
            <a:r>
              <a:rPr lang="en-US" sz="2584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Desarrollar e </a:t>
            </a:r>
            <a:r>
              <a:rPr lang="en-US" sz="2584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implementar un modelo capaz de identificar la ruta profesional más probable de un joven, tomando como base sus respuestas a preguntas de preferencias y contexto personal.</a:t>
            </a:r>
          </a:p>
          <a:p>
            <a:pPr algn="l" marL="0" indent="0" lvl="0">
              <a:lnSpc>
                <a:spcPts val="3618"/>
              </a:lnSpc>
            </a:pPr>
            <a:r>
              <a:rPr lang="en-US" sz="2584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¿Podemos usar IA para anticipar las carreras que elegirá la próxima generación?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62857" y="8105268"/>
            <a:ext cx="2716969" cy="3093857"/>
          </a:xfrm>
          <a:custGeom>
            <a:avLst/>
            <a:gdLst/>
            <a:ahLst/>
            <a:cxnLst/>
            <a:rect r="r" b="b" t="t" l="l"/>
            <a:pathLst>
              <a:path h="3093857" w="2716969">
                <a:moveTo>
                  <a:pt x="0" y="0"/>
                </a:moveTo>
                <a:lnTo>
                  <a:pt x="2716969" y="0"/>
                </a:lnTo>
                <a:lnTo>
                  <a:pt x="2716969" y="3093857"/>
                </a:lnTo>
                <a:lnTo>
                  <a:pt x="0" y="3093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5313" y="4005364"/>
            <a:ext cx="2462645" cy="246264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10223" y="4005364"/>
            <a:ext cx="2462645" cy="24626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15132" y="4005364"/>
            <a:ext cx="2462645" cy="24626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4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20041" y="4005364"/>
            <a:ext cx="2462645" cy="24626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4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967959" y="5236686"/>
            <a:ext cx="1142264" cy="0"/>
          </a:xfrm>
          <a:prstGeom prst="line">
            <a:avLst/>
          </a:prstGeom>
          <a:ln cap="rnd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572868" y="5236686"/>
            <a:ext cx="1142264" cy="0"/>
          </a:xfrm>
          <a:prstGeom prst="line">
            <a:avLst/>
          </a:prstGeom>
          <a:ln cap="rnd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2177777" y="5236686"/>
            <a:ext cx="1142264" cy="0"/>
          </a:xfrm>
          <a:prstGeom prst="line">
            <a:avLst/>
          </a:prstGeom>
          <a:ln cap="rnd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505313" y="7066539"/>
            <a:ext cx="2462645" cy="109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7"/>
              </a:lnSpc>
            </a:pPr>
            <a:r>
              <a:rPr lang="en-US" sz="2126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Análisis exploratorio y limpieza de datos</a:t>
            </a:r>
          </a:p>
        </p:txBody>
      </p:sp>
      <p:sp>
        <p:nvSpPr>
          <p:cNvPr name="AutoShape 18" id="18"/>
          <p:cNvSpPr/>
          <p:nvPr/>
        </p:nvSpPr>
        <p:spPr>
          <a:xfrm>
            <a:off x="3736636" y="6468009"/>
            <a:ext cx="0" cy="63663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6110223" y="7565763"/>
            <a:ext cx="2462645" cy="146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7"/>
              </a:lnSpc>
            </a:pPr>
            <a:r>
              <a:rPr lang="en-US" sz="2126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Aplicación de One-Hot Encoding para variables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7341545" y="6468009"/>
            <a:ext cx="0" cy="113585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715132" y="7778098"/>
            <a:ext cx="2462645" cy="109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7"/>
              </a:lnSpc>
            </a:pPr>
            <a:r>
              <a:rPr lang="en-US" sz="2126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Entrenamiento del modelo Random Forest Classifier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0946455" y="6468009"/>
            <a:ext cx="0" cy="1348189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3320041" y="8165047"/>
            <a:ext cx="2462645" cy="109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7"/>
              </a:lnSpc>
            </a:pPr>
            <a:r>
              <a:rPr lang="en-US" sz="2126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Implementación en API REST usando Flask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4551364" y="6468009"/>
            <a:ext cx="0" cy="173513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-317672" y="-232734"/>
            <a:ext cx="18923343" cy="3674381"/>
            <a:chOff x="0" y="0"/>
            <a:chExt cx="4983926" cy="9677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83926" cy="967738"/>
            </a:xfrm>
            <a:custGeom>
              <a:avLst/>
              <a:gdLst/>
              <a:ahLst/>
              <a:cxnLst/>
              <a:rect r="r" b="b" t="t" l="l"/>
              <a:pathLst>
                <a:path h="967738" w="4983926">
                  <a:moveTo>
                    <a:pt x="0" y="0"/>
                  </a:moveTo>
                  <a:lnTo>
                    <a:pt x="4983926" y="0"/>
                  </a:lnTo>
                  <a:lnTo>
                    <a:pt x="4983926" y="967738"/>
                  </a:lnTo>
                  <a:lnTo>
                    <a:pt x="0" y="967738"/>
                  </a:ln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983926" cy="996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1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-2745975" y="4039705"/>
            <a:ext cx="4856607" cy="4856607"/>
          </a:xfrm>
          <a:custGeom>
            <a:avLst/>
            <a:gdLst/>
            <a:ahLst/>
            <a:cxnLst/>
            <a:rect r="r" b="b" t="t" l="l"/>
            <a:pathLst>
              <a:path h="4856607" w="4856607">
                <a:moveTo>
                  <a:pt x="0" y="0"/>
                </a:moveTo>
                <a:lnTo>
                  <a:pt x="4856607" y="0"/>
                </a:lnTo>
                <a:lnTo>
                  <a:pt x="4856607" y="4856608"/>
                </a:lnTo>
                <a:lnTo>
                  <a:pt x="0" y="485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030337" y="3719860"/>
            <a:ext cx="5679627" cy="5679627"/>
          </a:xfrm>
          <a:custGeom>
            <a:avLst/>
            <a:gdLst/>
            <a:ahLst/>
            <a:cxnLst/>
            <a:rect r="r" b="b" t="t" l="l"/>
            <a:pathLst>
              <a:path h="5679627" w="5679627">
                <a:moveTo>
                  <a:pt x="0" y="0"/>
                </a:moveTo>
                <a:lnTo>
                  <a:pt x="5679627" y="0"/>
                </a:lnTo>
                <a:lnTo>
                  <a:pt x="5679627" y="5679627"/>
                </a:lnTo>
                <a:lnTo>
                  <a:pt x="0" y="567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1233076"/>
            <a:ext cx="9772570" cy="119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  <a:spcBef>
                <a:spcPct val="0"/>
              </a:spcBef>
            </a:pPr>
            <a:r>
              <a:rPr lang="en-US" b="true" sz="8999" strike="noStrike" u="non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Proceso de Trabajo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10603" y="1370774"/>
            <a:ext cx="508152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Resumen del flujo metodológico seguido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52702" y="4985226"/>
            <a:ext cx="1967868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Análisis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84342" y="4985226"/>
            <a:ext cx="2114407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Transformación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18559" y="4985226"/>
            <a:ext cx="2055792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Entrenamiento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50199" y="4985226"/>
            <a:ext cx="2202330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Despliegue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1309568" y="1309568"/>
            <a:ext cx="11320232" cy="8701096"/>
            <a:chOff x="0" y="0"/>
            <a:chExt cx="2981460" cy="2291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1460" cy="2291647"/>
            </a:xfrm>
            <a:custGeom>
              <a:avLst/>
              <a:gdLst/>
              <a:ahLst/>
              <a:cxnLst/>
              <a:rect r="r" b="b" t="t" l="l"/>
              <a:pathLst>
                <a:path h="2291647" w="2981460">
                  <a:moveTo>
                    <a:pt x="0" y="0"/>
                  </a:moveTo>
                  <a:lnTo>
                    <a:pt x="2981460" y="0"/>
                  </a:lnTo>
                  <a:lnTo>
                    <a:pt x="2981460" y="2291647"/>
                  </a:lnTo>
                  <a:lnTo>
                    <a:pt x="0" y="2291647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81460" cy="2339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35930" y="8951070"/>
            <a:ext cx="2671860" cy="2671860"/>
          </a:xfrm>
          <a:custGeom>
            <a:avLst/>
            <a:gdLst/>
            <a:ahLst/>
            <a:cxnLst/>
            <a:rect r="r" b="b" t="t" l="l"/>
            <a:pathLst>
              <a:path h="2671860" w="2671860">
                <a:moveTo>
                  <a:pt x="0" y="0"/>
                </a:moveTo>
                <a:lnTo>
                  <a:pt x="2671860" y="0"/>
                </a:lnTo>
                <a:lnTo>
                  <a:pt x="2671860" y="2671860"/>
                </a:lnTo>
                <a:lnTo>
                  <a:pt x="0" y="267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06814" y="-1540008"/>
            <a:ext cx="3080017" cy="3080017"/>
          </a:xfrm>
          <a:custGeom>
            <a:avLst/>
            <a:gdLst/>
            <a:ahLst/>
            <a:cxnLst/>
            <a:rect r="r" b="b" t="t" l="l"/>
            <a:pathLst>
              <a:path h="3080017" w="3080017">
                <a:moveTo>
                  <a:pt x="0" y="0"/>
                </a:moveTo>
                <a:lnTo>
                  <a:pt x="3080017" y="0"/>
                </a:lnTo>
                <a:lnTo>
                  <a:pt x="3080017" y="3080016"/>
                </a:lnTo>
                <a:lnTo>
                  <a:pt x="0" y="3080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6674" y="2397258"/>
            <a:ext cx="715130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3"/>
              </a:lnSpc>
            </a:pPr>
            <a:r>
              <a:rPr lang="en-US" b="true" sz="556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Dataset y Análisis Inicial</a:t>
            </a:r>
          </a:p>
          <a:p>
            <a:pPr algn="l" marL="0" indent="0" lvl="0">
              <a:lnSpc>
                <a:spcPts val="668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91382" y="3916802"/>
            <a:ext cx="6604086" cy="464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 empleó el dataset “Your Career A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p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i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ra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tion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of 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G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en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Z”, co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n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300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regi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st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ros 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y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13 variab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les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categóricas.</a:t>
            </a:r>
          </a:p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Variables relevantes incluyeron: estilo de aprendizaje, preferencias de gestión y factores de influencia.</a:t>
            </a:r>
          </a:p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El análisis inicial reveló un fuerte desbalance entre categorías profesionales y bajo volumen de datos, anticipando un reto en la predicción.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891768" y="1028700"/>
            <a:ext cx="7396232" cy="10566045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0" t="-269" r="0" b="-269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1309568" y="1309568"/>
            <a:ext cx="11320232" cy="8701096"/>
            <a:chOff x="0" y="0"/>
            <a:chExt cx="2981460" cy="2291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1460" cy="2291647"/>
            </a:xfrm>
            <a:custGeom>
              <a:avLst/>
              <a:gdLst/>
              <a:ahLst/>
              <a:cxnLst/>
              <a:rect r="r" b="b" t="t" l="l"/>
              <a:pathLst>
                <a:path h="2291647" w="2981460">
                  <a:moveTo>
                    <a:pt x="0" y="0"/>
                  </a:moveTo>
                  <a:lnTo>
                    <a:pt x="2981460" y="0"/>
                  </a:lnTo>
                  <a:lnTo>
                    <a:pt x="2981460" y="2291647"/>
                  </a:lnTo>
                  <a:lnTo>
                    <a:pt x="0" y="2291647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81460" cy="2339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35930" y="8951070"/>
            <a:ext cx="2671860" cy="2671860"/>
          </a:xfrm>
          <a:custGeom>
            <a:avLst/>
            <a:gdLst/>
            <a:ahLst/>
            <a:cxnLst/>
            <a:rect r="r" b="b" t="t" l="l"/>
            <a:pathLst>
              <a:path h="2671860" w="2671860">
                <a:moveTo>
                  <a:pt x="0" y="0"/>
                </a:moveTo>
                <a:lnTo>
                  <a:pt x="2671860" y="0"/>
                </a:lnTo>
                <a:lnTo>
                  <a:pt x="2671860" y="2671860"/>
                </a:lnTo>
                <a:lnTo>
                  <a:pt x="0" y="267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06814" y="-1540008"/>
            <a:ext cx="3080017" cy="3080017"/>
          </a:xfrm>
          <a:custGeom>
            <a:avLst/>
            <a:gdLst/>
            <a:ahLst/>
            <a:cxnLst/>
            <a:rect r="r" b="b" t="t" l="l"/>
            <a:pathLst>
              <a:path h="3080017" w="3080017">
                <a:moveTo>
                  <a:pt x="0" y="0"/>
                </a:moveTo>
                <a:lnTo>
                  <a:pt x="3080017" y="0"/>
                </a:lnTo>
                <a:lnTo>
                  <a:pt x="3080017" y="3080016"/>
                </a:lnTo>
                <a:lnTo>
                  <a:pt x="0" y="3080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6674" y="2397258"/>
            <a:ext cx="715130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3"/>
              </a:lnSpc>
            </a:pPr>
            <a:r>
              <a:rPr lang="en-US" b="true" sz="556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</a:t>
            </a:r>
            <a:r>
              <a:rPr lang="en-US" b="true" sz="556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eprocesamiento</a:t>
            </a:r>
          </a:p>
          <a:p>
            <a:pPr algn="l" marL="0" indent="0" lvl="0">
              <a:lnSpc>
                <a:spcPts val="668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6674" y="3836145"/>
            <a:ext cx="6956592" cy="51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Las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variables categóricas se transformaron med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i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an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te One-Hot Encoding, pasando de 12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colum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nas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originale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 a ap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roximadamente 50 variab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les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binarias.</a:t>
            </a:r>
          </a:p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Esta conversión permitió preparar el dataset para algoritmos de Machine Learning y facilitar la integración futura con entornos web.</a:t>
            </a:r>
          </a:p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Se generó un archivo de alineación de features para asegurar compatibilidad entre el modelo y la API en producción.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891768" y="1049038"/>
            <a:ext cx="7381995" cy="10545707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0" t="-269" r="0" b="-269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1309568" y="1309568"/>
            <a:ext cx="11320232" cy="8701096"/>
            <a:chOff x="0" y="0"/>
            <a:chExt cx="2981460" cy="2291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1460" cy="2291647"/>
            </a:xfrm>
            <a:custGeom>
              <a:avLst/>
              <a:gdLst/>
              <a:ahLst/>
              <a:cxnLst/>
              <a:rect r="r" b="b" t="t" l="l"/>
              <a:pathLst>
                <a:path h="2291647" w="2981460">
                  <a:moveTo>
                    <a:pt x="0" y="0"/>
                  </a:moveTo>
                  <a:lnTo>
                    <a:pt x="2981460" y="0"/>
                  </a:lnTo>
                  <a:lnTo>
                    <a:pt x="2981460" y="2291647"/>
                  </a:lnTo>
                  <a:lnTo>
                    <a:pt x="0" y="2291647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81460" cy="2339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35930" y="8951070"/>
            <a:ext cx="2671860" cy="2671860"/>
          </a:xfrm>
          <a:custGeom>
            <a:avLst/>
            <a:gdLst/>
            <a:ahLst/>
            <a:cxnLst/>
            <a:rect r="r" b="b" t="t" l="l"/>
            <a:pathLst>
              <a:path h="2671860" w="2671860">
                <a:moveTo>
                  <a:pt x="0" y="0"/>
                </a:moveTo>
                <a:lnTo>
                  <a:pt x="2671860" y="0"/>
                </a:lnTo>
                <a:lnTo>
                  <a:pt x="2671860" y="2671860"/>
                </a:lnTo>
                <a:lnTo>
                  <a:pt x="0" y="267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06814" y="-1540008"/>
            <a:ext cx="3080017" cy="3080017"/>
          </a:xfrm>
          <a:custGeom>
            <a:avLst/>
            <a:gdLst/>
            <a:ahLst/>
            <a:cxnLst/>
            <a:rect r="r" b="b" t="t" l="l"/>
            <a:pathLst>
              <a:path h="3080017" w="3080017">
                <a:moveTo>
                  <a:pt x="0" y="0"/>
                </a:moveTo>
                <a:lnTo>
                  <a:pt x="3080017" y="0"/>
                </a:lnTo>
                <a:lnTo>
                  <a:pt x="3080017" y="3080016"/>
                </a:lnTo>
                <a:lnTo>
                  <a:pt x="0" y="3080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6674" y="2397258"/>
            <a:ext cx="7735424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3"/>
              </a:lnSpc>
            </a:pPr>
            <a:r>
              <a:rPr lang="en-US" b="true" sz="556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Mod</a:t>
            </a:r>
            <a:r>
              <a:rPr lang="en-US" b="true" sz="556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elado y Entrenamiento</a:t>
            </a:r>
          </a:p>
          <a:p>
            <a:pPr algn="l" marL="0" indent="0" lvl="0">
              <a:lnSpc>
                <a:spcPts val="668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6674" y="4426416"/>
            <a:ext cx="6956592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Se seleccionó Random Forest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Classifier por su capacidad de manejar datos categóricos y evitar sobreajus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te en conjuntos pequeños.</a:t>
            </a:r>
          </a:p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El modelo se entrenó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co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n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la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 49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variab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les</a:t>
            </a: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resultantes y se serializó para despliegue.</a:t>
            </a:r>
          </a:p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La precisión alcanzada fue del 30%, superior al azar pero limitada por el desbalance y la cantidad de datos.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891768" y="1049038"/>
            <a:ext cx="7381995" cy="10545707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0" t="-269" r="0" b="-269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451632" y="1893300"/>
            <a:ext cx="8414585" cy="809669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397543" y="645795"/>
            <a:ext cx="886175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</a:pPr>
            <a:r>
              <a:rPr lang="en-US" sz="2199" spc="-21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Análisis de la distribución de clases predichas</a:t>
            </a:r>
          </a:p>
        </p:txBody>
      </p:sp>
      <p:grpSp>
        <p:nvGrpSpPr>
          <p:cNvPr name="Group 4" id="4"/>
          <p:cNvGrpSpPr/>
          <p:nvPr/>
        </p:nvGrpSpPr>
        <p:grpSpPr>
          <a:xfrm rot="5400000">
            <a:off x="-1461345" y="944729"/>
            <a:ext cx="11320232" cy="8397543"/>
            <a:chOff x="0" y="0"/>
            <a:chExt cx="2981460" cy="22116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1460" cy="2211699"/>
            </a:xfrm>
            <a:custGeom>
              <a:avLst/>
              <a:gdLst/>
              <a:ahLst/>
              <a:cxnLst/>
              <a:rect r="r" b="b" t="t" l="l"/>
              <a:pathLst>
                <a:path h="2211699" w="2981460">
                  <a:moveTo>
                    <a:pt x="0" y="0"/>
                  </a:moveTo>
                  <a:lnTo>
                    <a:pt x="2981460" y="0"/>
                  </a:lnTo>
                  <a:lnTo>
                    <a:pt x="2981460" y="2211699"/>
                  </a:lnTo>
                  <a:lnTo>
                    <a:pt x="0" y="2211699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981460" cy="2259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335930" y="8951070"/>
            <a:ext cx="2671860" cy="2671860"/>
          </a:xfrm>
          <a:custGeom>
            <a:avLst/>
            <a:gdLst/>
            <a:ahLst/>
            <a:cxnLst/>
            <a:rect r="r" b="b" t="t" l="l"/>
            <a:pathLst>
              <a:path h="2671860" w="2671860">
                <a:moveTo>
                  <a:pt x="0" y="0"/>
                </a:moveTo>
                <a:lnTo>
                  <a:pt x="2671860" y="0"/>
                </a:lnTo>
                <a:lnTo>
                  <a:pt x="2671860" y="2671860"/>
                </a:lnTo>
                <a:lnTo>
                  <a:pt x="0" y="2671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06814" y="-1540008"/>
            <a:ext cx="3080017" cy="3080017"/>
          </a:xfrm>
          <a:custGeom>
            <a:avLst/>
            <a:gdLst/>
            <a:ahLst/>
            <a:cxnLst/>
            <a:rect r="r" b="b" t="t" l="l"/>
            <a:pathLst>
              <a:path h="3080017" w="3080017">
                <a:moveTo>
                  <a:pt x="0" y="0"/>
                </a:moveTo>
                <a:lnTo>
                  <a:pt x="3080017" y="0"/>
                </a:lnTo>
                <a:lnTo>
                  <a:pt x="3080017" y="3080016"/>
                </a:lnTo>
                <a:lnTo>
                  <a:pt x="0" y="30800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7494" y="2480491"/>
            <a:ext cx="7798222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5"/>
              </a:lnSpc>
            </a:pPr>
            <a:r>
              <a:rPr lang="en-US" b="true" sz="5962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</a:t>
            </a:r>
            <a:r>
              <a:rPr lang="en-US" b="true" sz="5962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sultados y Métricas</a:t>
            </a:r>
          </a:p>
          <a:p>
            <a:pPr algn="l" marL="0" indent="0" lvl="0">
              <a:lnSpc>
                <a:spcPts val="715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7494" y="3972548"/>
            <a:ext cx="7122554" cy="400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P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recisión del modelo: 30%</a:t>
            </a:r>
          </a:p>
          <a:p>
            <a:pPr algn="l" marL="518158" indent="-259079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Matriz de confusión: Evidencia la tendencia del modelo a 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pred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ci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las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clases mayoritarias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.</a:t>
            </a:r>
          </a:p>
          <a:p>
            <a:pPr algn="l" marL="518158" indent="-259079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Distribución de clases: Destaca el desbalance en el conjunto de datos. 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las métricas y gráficas permiten entender las fortalezas y debilidades del modelo, facilitando decisiones de mejora.</a:t>
            </a:r>
          </a:p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3002782" y="2486166"/>
            <a:ext cx="11320232" cy="5314669"/>
            <a:chOff x="0" y="0"/>
            <a:chExt cx="2981460" cy="13997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1460" cy="1399748"/>
            </a:xfrm>
            <a:custGeom>
              <a:avLst/>
              <a:gdLst/>
              <a:ahLst/>
              <a:cxnLst/>
              <a:rect r="r" b="b" t="t" l="l"/>
              <a:pathLst>
                <a:path h="1399748" w="2981460">
                  <a:moveTo>
                    <a:pt x="0" y="0"/>
                  </a:moveTo>
                  <a:lnTo>
                    <a:pt x="2981460" y="0"/>
                  </a:lnTo>
                  <a:lnTo>
                    <a:pt x="2981460" y="1399748"/>
                  </a:lnTo>
                  <a:lnTo>
                    <a:pt x="0" y="1399748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81460" cy="1447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35930" y="8951070"/>
            <a:ext cx="2671860" cy="2671860"/>
          </a:xfrm>
          <a:custGeom>
            <a:avLst/>
            <a:gdLst/>
            <a:ahLst/>
            <a:cxnLst/>
            <a:rect r="r" b="b" t="t" l="l"/>
            <a:pathLst>
              <a:path h="2671860" w="2671860">
                <a:moveTo>
                  <a:pt x="0" y="0"/>
                </a:moveTo>
                <a:lnTo>
                  <a:pt x="2671860" y="0"/>
                </a:lnTo>
                <a:lnTo>
                  <a:pt x="2671860" y="2671860"/>
                </a:lnTo>
                <a:lnTo>
                  <a:pt x="0" y="267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06814" y="-1540008"/>
            <a:ext cx="3080017" cy="3080017"/>
          </a:xfrm>
          <a:custGeom>
            <a:avLst/>
            <a:gdLst/>
            <a:ahLst/>
            <a:cxnLst/>
            <a:rect r="r" b="b" t="t" l="l"/>
            <a:pathLst>
              <a:path h="3080017" w="3080017">
                <a:moveTo>
                  <a:pt x="0" y="0"/>
                </a:moveTo>
                <a:lnTo>
                  <a:pt x="3080017" y="0"/>
                </a:lnTo>
                <a:lnTo>
                  <a:pt x="3080017" y="3080016"/>
                </a:lnTo>
                <a:lnTo>
                  <a:pt x="0" y="3080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92123" y="289492"/>
            <a:ext cx="11422967" cy="9708015"/>
          </a:xfrm>
          <a:custGeom>
            <a:avLst/>
            <a:gdLst/>
            <a:ahLst/>
            <a:cxnLst/>
            <a:rect r="r" b="b" t="t" l="l"/>
            <a:pathLst>
              <a:path h="9708015" w="11422967">
                <a:moveTo>
                  <a:pt x="0" y="0"/>
                </a:moveTo>
                <a:lnTo>
                  <a:pt x="11422967" y="0"/>
                </a:lnTo>
                <a:lnTo>
                  <a:pt x="11422967" y="9708016"/>
                </a:lnTo>
                <a:lnTo>
                  <a:pt x="0" y="97080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97" r="0" b="-129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7884" y="2248173"/>
            <a:ext cx="779822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5"/>
              </a:lnSpc>
            </a:pPr>
            <a:r>
              <a:rPr lang="en-US" b="true" sz="5962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Matriz de confusión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494" y="5763248"/>
            <a:ext cx="4201936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Evidencia la tendencia del modelo a 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pred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ci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las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clases mayoritarias</a:t>
            </a:r>
            <a:r>
              <a:rPr lang="en-US" sz="2399" spc="-47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.</a:t>
            </a:r>
          </a:p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2802"/>
            <a:ext cx="18288000" cy="3014516"/>
            <a:chOff x="0" y="0"/>
            <a:chExt cx="4816593" cy="7939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93947"/>
            </a:xfrm>
            <a:custGeom>
              <a:avLst/>
              <a:gdLst/>
              <a:ahLst/>
              <a:cxnLst/>
              <a:rect r="r" b="b" t="t" l="l"/>
              <a:pathLst>
                <a:path h="79394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93947"/>
                  </a:lnTo>
                  <a:lnTo>
                    <a:pt x="0" y="793947"/>
                  </a:lnTo>
                  <a:close/>
                </a:path>
              </a:pathLst>
            </a:custGeom>
            <a:solidFill>
              <a:srgbClr val="0F34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841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35930" y="8951070"/>
            <a:ext cx="2671860" cy="2671860"/>
          </a:xfrm>
          <a:custGeom>
            <a:avLst/>
            <a:gdLst/>
            <a:ahLst/>
            <a:cxnLst/>
            <a:rect r="r" b="b" t="t" l="l"/>
            <a:pathLst>
              <a:path h="2671860" w="2671860">
                <a:moveTo>
                  <a:pt x="0" y="0"/>
                </a:moveTo>
                <a:lnTo>
                  <a:pt x="2671860" y="0"/>
                </a:lnTo>
                <a:lnTo>
                  <a:pt x="2671860" y="2671860"/>
                </a:lnTo>
                <a:lnTo>
                  <a:pt x="0" y="267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06814" y="-1540008"/>
            <a:ext cx="3080017" cy="3080017"/>
          </a:xfrm>
          <a:custGeom>
            <a:avLst/>
            <a:gdLst/>
            <a:ahLst/>
            <a:cxnLst/>
            <a:rect r="r" b="b" t="t" l="l"/>
            <a:pathLst>
              <a:path h="3080017" w="3080017">
                <a:moveTo>
                  <a:pt x="0" y="0"/>
                </a:moveTo>
                <a:lnTo>
                  <a:pt x="3080017" y="0"/>
                </a:lnTo>
                <a:lnTo>
                  <a:pt x="3080017" y="3080016"/>
                </a:lnTo>
                <a:lnTo>
                  <a:pt x="0" y="3080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3467859"/>
            <a:ext cx="18288000" cy="6309360"/>
          </a:xfrm>
          <a:custGeom>
            <a:avLst/>
            <a:gdLst/>
            <a:ahLst/>
            <a:cxnLst/>
            <a:rect r="r" b="b" t="t" l="l"/>
            <a:pathLst>
              <a:path h="6309360" w="18288000">
                <a:moveTo>
                  <a:pt x="0" y="0"/>
                </a:moveTo>
                <a:lnTo>
                  <a:pt x="18288000" y="0"/>
                </a:lnTo>
                <a:lnTo>
                  <a:pt x="18288000" y="6309360"/>
                </a:lnTo>
                <a:lnTo>
                  <a:pt x="0" y="6309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530483"/>
            <a:ext cx="779822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5"/>
              </a:lnSpc>
            </a:pPr>
            <a:r>
              <a:rPr lang="en-US" b="true" sz="5962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Distribución de clases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47577" y="1473333"/>
            <a:ext cx="6896491" cy="97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4049"/>
              </a:lnSpc>
              <a:buFont typeface="Arial"/>
              <a:buChar char="•"/>
            </a:pPr>
            <a:r>
              <a:rPr lang="en-US" sz="2699" spc="-5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D</a:t>
            </a:r>
            <a:r>
              <a:rPr lang="en-US" sz="2699" spc="-5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estaca el desbalance en el conjunto </a:t>
            </a:r>
            <a:r>
              <a:rPr lang="en-US" sz="2699" spc="-5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d</a:t>
            </a:r>
            <a:r>
              <a:rPr lang="en-US" sz="2699" spc="-5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</a:t>
            </a:r>
            <a:r>
              <a:rPr lang="en-US" sz="2699" spc="-5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 d</a:t>
            </a:r>
            <a:r>
              <a:rPr lang="en-US" sz="2699" spc="-5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at</a:t>
            </a:r>
            <a:r>
              <a:rPr lang="en-US" sz="2699" spc="-5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os</a:t>
            </a:r>
            <a:r>
              <a:rPr lang="en-US" sz="2699" spc="-5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. 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5313" y="4005364"/>
            <a:ext cx="2462645" cy="246264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10223" y="4005364"/>
            <a:ext cx="2462645" cy="24626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15132" y="4005364"/>
            <a:ext cx="2462645" cy="24626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20041" y="4005364"/>
            <a:ext cx="2462645" cy="24626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7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967959" y="5236686"/>
            <a:ext cx="1142264" cy="0"/>
          </a:xfrm>
          <a:prstGeom prst="line">
            <a:avLst/>
          </a:prstGeom>
          <a:ln cap="rnd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572868" y="5236686"/>
            <a:ext cx="1142264" cy="0"/>
          </a:xfrm>
          <a:prstGeom prst="line">
            <a:avLst/>
          </a:prstGeom>
          <a:ln cap="rnd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2177777" y="5236686"/>
            <a:ext cx="1142264" cy="0"/>
          </a:xfrm>
          <a:prstGeom prst="line">
            <a:avLst/>
          </a:prstGeom>
          <a:ln cap="rnd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505313" y="7066539"/>
            <a:ext cx="2462645" cy="107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0"/>
              </a:lnSpc>
            </a:pPr>
            <a:r>
              <a:rPr lang="en-US" sz="204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Modelo integrado en API REST usando Flask</a:t>
            </a:r>
          </a:p>
        </p:txBody>
      </p:sp>
      <p:sp>
        <p:nvSpPr>
          <p:cNvPr name="AutoShape 18" id="18"/>
          <p:cNvSpPr/>
          <p:nvPr/>
        </p:nvSpPr>
        <p:spPr>
          <a:xfrm>
            <a:off x="3736636" y="6468009"/>
            <a:ext cx="0" cy="63663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6110223" y="7565763"/>
            <a:ext cx="2462645" cy="107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0"/>
              </a:lnSpc>
            </a:pPr>
            <a:r>
              <a:rPr lang="en-US" sz="204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Recepción y transformación de datos JSON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7341545" y="6468009"/>
            <a:ext cx="0" cy="113585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715132" y="7778098"/>
            <a:ext cx="2462645" cy="107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0"/>
              </a:lnSpc>
            </a:pPr>
            <a:r>
              <a:rPr lang="en-US" sz="204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Realización de predicciones con el modelo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0946455" y="6468009"/>
            <a:ext cx="0" cy="1348189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3320041" y="8165047"/>
            <a:ext cx="2462645" cy="107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0"/>
              </a:lnSpc>
            </a:pPr>
            <a:r>
              <a:rPr lang="en-US" sz="204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Respuesta devuelta con confianza y resultados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4551364" y="6468009"/>
            <a:ext cx="0" cy="173513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-317672" y="-232734"/>
            <a:ext cx="18923343" cy="3674381"/>
            <a:chOff x="0" y="0"/>
            <a:chExt cx="4983926" cy="9677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83926" cy="967738"/>
            </a:xfrm>
            <a:custGeom>
              <a:avLst/>
              <a:gdLst/>
              <a:ahLst/>
              <a:cxnLst/>
              <a:rect r="r" b="b" t="t" l="l"/>
              <a:pathLst>
                <a:path h="967738" w="4983926">
                  <a:moveTo>
                    <a:pt x="0" y="0"/>
                  </a:moveTo>
                  <a:lnTo>
                    <a:pt x="4983926" y="0"/>
                  </a:lnTo>
                  <a:lnTo>
                    <a:pt x="4983926" y="967738"/>
                  </a:lnTo>
                  <a:lnTo>
                    <a:pt x="0" y="967738"/>
                  </a:ln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983926" cy="986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3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-2745975" y="4039705"/>
            <a:ext cx="4856607" cy="4856607"/>
          </a:xfrm>
          <a:custGeom>
            <a:avLst/>
            <a:gdLst/>
            <a:ahLst/>
            <a:cxnLst/>
            <a:rect r="r" b="b" t="t" l="l"/>
            <a:pathLst>
              <a:path h="4856607" w="4856607">
                <a:moveTo>
                  <a:pt x="0" y="0"/>
                </a:moveTo>
                <a:lnTo>
                  <a:pt x="4856607" y="0"/>
                </a:lnTo>
                <a:lnTo>
                  <a:pt x="4856607" y="4856608"/>
                </a:lnTo>
                <a:lnTo>
                  <a:pt x="0" y="485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030337" y="3719860"/>
            <a:ext cx="5679627" cy="5679627"/>
          </a:xfrm>
          <a:custGeom>
            <a:avLst/>
            <a:gdLst/>
            <a:ahLst/>
            <a:cxnLst/>
            <a:rect r="r" b="b" t="t" l="l"/>
            <a:pathLst>
              <a:path h="5679627" w="5679627">
                <a:moveTo>
                  <a:pt x="0" y="0"/>
                </a:moveTo>
                <a:lnTo>
                  <a:pt x="5679627" y="0"/>
                </a:lnTo>
                <a:lnTo>
                  <a:pt x="5679627" y="5679627"/>
                </a:lnTo>
                <a:lnTo>
                  <a:pt x="0" y="567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1233076"/>
            <a:ext cx="9772570" cy="119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  <a:spcBef>
                <a:spcPct val="0"/>
              </a:spcBef>
            </a:pPr>
            <a:r>
              <a:rPr lang="en-US" b="true" sz="8999" strike="noStrike" u="non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Despliegue API REST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10603" y="1370774"/>
            <a:ext cx="508152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Implementación del modelo en producción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52702" y="4985226"/>
            <a:ext cx="1967868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Integración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84342" y="4985226"/>
            <a:ext cx="2114407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Transformación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18559" y="4985226"/>
            <a:ext cx="2055792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Predicción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50199" y="4985226"/>
            <a:ext cx="2202330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Respuesta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86615" y="849939"/>
            <a:ext cx="7872685" cy="8587122"/>
            <a:chOff x="0" y="0"/>
            <a:chExt cx="2073464" cy="2261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3465" cy="2261629"/>
            </a:xfrm>
            <a:custGeom>
              <a:avLst/>
              <a:gdLst/>
              <a:ahLst/>
              <a:cxnLst/>
              <a:rect r="r" b="b" t="t" l="l"/>
              <a:pathLst>
                <a:path h="2261629" w="2073465">
                  <a:moveTo>
                    <a:pt x="59003" y="0"/>
                  </a:moveTo>
                  <a:lnTo>
                    <a:pt x="2014461" y="0"/>
                  </a:lnTo>
                  <a:cubicBezTo>
                    <a:pt x="2030110" y="0"/>
                    <a:pt x="2045118" y="6216"/>
                    <a:pt x="2056183" y="17282"/>
                  </a:cubicBezTo>
                  <a:cubicBezTo>
                    <a:pt x="2067248" y="28347"/>
                    <a:pt x="2073465" y="43355"/>
                    <a:pt x="2073465" y="59003"/>
                  </a:cubicBezTo>
                  <a:lnTo>
                    <a:pt x="2073465" y="2202625"/>
                  </a:lnTo>
                  <a:cubicBezTo>
                    <a:pt x="2073465" y="2218274"/>
                    <a:pt x="2067248" y="2233282"/>
                    <a:pt x="2056183" y="2244347"/>
                  </a:cubicBezTo>
                  <a:cubicBezTo>
                    <a:pt x="2045118" y="2255412"/>
                    <a:pt x="2030110" y="2261629"/>
                    <a:pt x="2014461" y="2261629"/>
                  </a:cubicBezTo>
                  <a:lnTo>
                    <a:pt x="59003" y="2261629"/>
                  </a:lnTo>
                  <a:cubicBezTo>
                    <a:pt x="43355" y="2261629"/>
                    <a:pt x="28347" y="2255412"/>
                    <a:pt x="17282" y="2244347"/>
                  </a:cubicBezTo>
                  <a:cubicBezTo>
                    <a:pt x="6216" y="2233282"/>
                    <a:pt x="0" y="2218274"/>
                    <a:pt x="0" y="2202625"/>
                  </a:cubicBezTo>
                  <a:lnTo>
                    <a:pt x="0" y="59003"/>
                  </a:lnTo>
                  <a:cubicBezTo>
                    <a:pt x="0" y="43355"/>
                    <a:pt x="6216" y="28347"/>
                    <a:pt x="17282" y="17282"/>
                  </a:cubicBezTo>
                  <a:cubicBezTo>
                    <a:pt x="28347" y="6216"/>
                    <a:pt x="43355" y="0"/>
                    <a:pt x="59003" y="0"/>
                  </a:cubicBez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3464" cy="2299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74920" y="-310209"/>
            <a:ext cx="10043971" cy="6515772"/>
            <a:chOff x="0" y="0"/>
            <a:chExt cx="8848746" cy="5740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50016" cy="5741670"/>
            </a:xfrm>
            <a:custGeom>
              <a:avLst/>
              <a:gdLst/>
              <a:ahLst/>
              <a:cxnLst/>
              <a:rect r="r" b="b" t="t" l="l"/>
              <a:pathLst>
                <a:path h="5741670" w="8850016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338022" y="2933700"/>
                    <a:pt x="755683" y="2933700"/>
                  </a:cubicBezTo>
                  <a:lnTo>
                    <a:pt x="1599853" y="2933700"/>
                  </a:lnTo>
                  <a:cubicBezTo>
                    <a:pt x="2017514" y="2933700"/>
                    <a:pt x="2355536" y="3176270"/>
                    <a:pt x="2355536" y="3475990"/>
                  </a:cubicBezTo>
                  <a:lnTo>
                    <a:pt x="2355536" y="5199380"/>
                  </a:lnTo>
                  <a:cubicBezTo>
                    <a:pt x="2355536" y="5499100"/>
                    <a:pt x="2693558" y="5741670"/>
                    <a:pt x="3111219" y="5741670"/>
                  </a:cubicBezTo>
                  <a:lnTo>
                    <a:pt x="5015469" y="5741670"/>
                  </a:lnTo>
                  <a:cubicBezTo>
                    <a:pt x="5204833" y="5741670"/>
                    <a:pt x="5388886" y="5689600"/>
                    <a:pt x="5528696" y="5598160"/>
                  </a:cubicBezTo>
                  <a:lnTo>
                    <a:pt x="8608060" y="3553460"/>
                  </a:lnTo>
                  <a:cubicBezTo>
                    <a:pt x="8762029" y="3450590"/>
                    <a:pt x="8850016" y="3307080"/>
                    <a:pt x="8850016" y="3155950"/>
                  </a:cubicBezTo>
                  <a:lnTo>
                    <a:pt x="8850016" y="542290"/>
                  </a:lnTo>
                  <a:cubicBezTo>
                    <a:pt x="8848746" y="242570"/>
                    <a:pt x="8510724" y="0"/>
                    <a:pt x="8093063" y="0"/>
                  </a:cubicBezTo>
                  <a:lnTo>
                    <a:pt x="755683" y="0"/>
                  </a:lnTo>
                  <a:cubicBezTo>
                    <a:pt x="338022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2"/>
              <a:stretch>
                <a:fillRect l="-292" t="0" r="-29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416859" y="2721030"/>
            <a:ext cx="3239871" cy="3239871"/>
          </a:xfrm>
          <a:custGeom>
            <a:avLst/>
            <a:gdLst/>
            <a:ahLst/>
            <a:cxnLst/>
            <a:rect r="r" b="b" t="t" l="l"/>
            <a:pathLst>
              <a:path h="3239871" w="3239871">
                <a:moveTo>
                  <a:pt x="0" y="0"/>
                </a:moveTo>
                <a:lnTo>
                  <a:pt x="3239871" y="0"/>
                </a:lnTo>
                <a:lnTo>
                  <a:pt x="3239871" y="3239871"/>
                </a:lnTo>
                <a:lnTo>
                  <a:pt x="0" y="32398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-722587" y="-1163382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4107318" y="0"/>
                </a:moveTo>
                <a:lnTo>
                  <a:pt x="0" y="0"/>
                </a:lnTo>
                <a:lnTo>
                  <a:pt x="0" y="4114800"/>
                </a:lnTo>
                <a:lnTo>
                  <a:pt x="4107318" y="4114800"/>
                </a:lnTo>
                <a:lnTo>
                  <a:pt x="410731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7644" y="7306532"/>
            <a:ext cx="768737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68"/>
              </a:lnSpc>
              <a:spcBef>
                <a:spcPct val="0"/>
              </a:spcBef>
            </a:pPr>
            <a:r>
              <a:rPr lang="en-US" b="true" sz="6973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Aprendizajes y Estrategias de Mejora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16885" y="1732693"/>
            <a:ext cx="6412145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b="true" sz="34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</a:t>
            </a:r>
            <a:r>
              <a:rPr lang="en-US" b="true" sz="34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incipales obstáculos detectados: bajo volumen y desbalance de datos.</a:t>
            </a:r>
          </a:p>
          <a:p>
            <a:pPr algn="l" marL="0" indent="0" lvl="0">
              <a:lnSpc>
                <a:spcPts val="4199"/>
              </a:lnSpc>
            </a:pPr>
            <a:r>
              <a:rPr lang="en-US" b="true" sz="3499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Propuestas de optimización: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1427" y="4396273"/>
            <a:ext cx="6863061" cy="357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602" indent="-277301" lvl="1">
              <a:lnSpc>
                <a:spcPts val="3596"/>
              </a:lnSpc>
              <a:spcBef>
                <a:spcPct val="0"/>
              </a:spcBef>
              <a:buFont typeface="Arial"/>
              <a:buChar char="•"/>
            </a:pPr>
            <a:r>
              <a:rPr lang="en-US" sz="2568" strike="noStrike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Agrupar categorías para análisis más efectivo</a:t>
            </a:r>
          </a:p>
          <a:p>
            <a:pPr algn="l" marL="554602" indent="-277301" lvl="1">
              <a:lnSpc>
                <a:spcPts val="3596"/>
              </a:lnSpc>
              <a:spcBef>
                <a:spcPct val="0"/>
              </a:spcBef>
              <a:buFont typeface="Arial"/>
              <a:buChar char="•"/>
            </a:pPr>
            <a:r>
              <a:rPr lang="en-US" sz="2568" strike="noStrike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Implementar técnicas SMOTE para balancear datos</a:t>
            </a:r>
          </a:p>
          <a:p>
            <a:pPr algn="l" marL="554602" indent="-277301" lvl="1">
              <a:lnSpc>
                <a:spcPts val="3596"/>
              </a:lnSpc>
              <a:spcBef>
                <a:spcPct val="0"/>
              </a:spcBef>
              <a:buFont typeface="Arial"/>
              <a:buChar char="•"/>
            </a:pPr>
            <a:r>
              <a:rPr lang="en-US" sz="2568" strike="noStrike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Probar modelos XGBoost para mayor precisión</a:t>
            </a:r>
          </a:p>
          <a:p>
            <a:pPr algn="l" marL="554602" indent="-277301" lvl="1">
              <a:lnSpc>
                <a:spcPts val="3596"/>
              </a:lnSpc>
              <a:spcBef>
                <a:spcPct val="0"/>
              </a:spcBef>
              <a:buFont typeface="Arial"/>
              <a:buChar char="•"/>
            </a:pPr>
            <a:r>
              <a:rPr lang="en-US" sz="2568" strike="noStrike" u="none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Ajustar hiperparámetros para mejorar rendimiento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6831" y="-211815"/>
            <a:ext cx="18921662" cy="4232445"/>
            <a:chOff x="0" y="0"/>
            <a:chExt cx="4983483" cy="1114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3483" cy="1114718"/>
            </a:xfrm>
            <a:custGeom>
              <a:avLst/>
              <a:gdLst/>
              <a:ahLst/>
              <a:cxnLst/>
              <a:rect r="r" b="b" t="t" l="l"/>
              <a:pathLst>
                <a:path h="1114718" w="4983483">
                  <a:moveTo>
                    <a:pt x="0" y="0"/>
                  </a:moveTo>
                  <a:lnTo>
                    <a:pt x="4983483" y="0"/>
                  </a:lnTo>
                  <a:lnTo>
                    <a:pt x="4983483" y="1114718"/>
                  </a:lnTo>
                  <a:lnTo>
                    <a:pt x="0" y="1114718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83483" cy="1162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89526" y="-631205"/>
            <a:ext cx="6629326" cy="11984632"/>
            <a:chOff x="0" y="0"/>
            <a:chExt cx="721900" cy="13050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900" cy="1305066"/>
            </a:xfrm>
            <a:custGeom>
              <a:avLst/>
              <a:gdLst/>
              <a:ahLst/>
              <a:cxnLst/>
              <a:rect r="r" b="b" t="t" l="l"/>
              <a:pathLst>
                <a:path h="1305066" w="721900">
                  <a:moveTo>
                    <a:pt x="73573" y="0"/>
                  </a:moveTo>
                  <a:lnTo>
                    <a:pt x="648327" y="0"/>
                  </a:lnTo>
                  <a:cubicBezTo>
                    <a:pt x="667840" y="0"/>
                    <a:pt x="686554" y="7751"/>
                    <a:pt x="700351" y="21549"/>
                  </a:cubicBezTo>
                  <a:cubicBezTo>
                    <a:pt x="714149" y="35347"/>
                    <a:pt x="721900" y="54060"/>
                    <a:pt x="721900" y="73573"/>
                  </a:cubicBezTo>
                  <a:lnTo>
                    <a:pt x="721900" y="1231493"/>
                  </a:lnTo>
                  <a:cubicBezTo>
                    <a:pt x="721900" y="1251006"/>
                    <a:pt x="714149" y="1269719"/>
                    <a:pt x="700351" y="1283517"/>
                  </a:cubicBezTo>
                  <a:cubicBezTo>
                    <a:pt x="686554" y="1297315"/>
                    <a:pt x="667840" y="1305066"/>
                    <a:pt x="648327" y="1305066"/>
                  </a:cubicBezTo>
                  <a:lnTo>
                    <a:pt x="73573" y="1305066"/>
                  </a:lnTo>
                  <a:cubicBezTo>
                    <a:pt x="54060" y="1305066"/>
                    <a:pt x="35347" y="1297315"/>
                    <a:pt x="21549" y="1283517"/>
                  </a:cubicBezTo>
                  <a:cubicBezTo>
                    <a:pt x="7751" y="1269719"/>
                    <a:pt x="0" y="1251006"/>
                    <a:pt x="0" y="1231493"/>
                  </a:cubicBezTo>
                  <a:lnTo>
                    <a:pt x="0" y="73573"/>
                  </a:lnTo>
                  <a:cubicBezTo>
                    <a:pt x="0" y="54060"/>
                    <a:pt x="7751" y="35347"/>
                    <a:pt x="21549" y="21549"/>
                  </a:cubicBezTo>
                  <a:cubicBezTo>
                    <a:pt x="35347" y="7751"/>
                    <a:pt x="54060" y="0"/>
                    <a:pt x="7357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16" r="0" b="-516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480282" y="2461112"/>
            <a:ext cx="3119037" cy="3119037"/>
          </a:xfrm>
          <a:custGeom>
            <a:avLst/>
            <a:gdLst/>
            <a:ahLst/>
            <a:cxnLst/>
            <a:rect r="r" b="b" t="t" l="l"/>
            <a:pathLst>
              <a:path h="3119037" w="3119037">
                <a:moveTo>
                  <a:pt x="0" y="0"/>
                </a:moveTo>
                <a:lnTo>
                  <a:pt x="3119037" y="0"/>
                </a:lnTo>
                <a:lnTo>
                  <a:pt x="3119037" y="3119037"/>
                </a:lnTo>
                <a:lnTo>
                  <a:pt x="0" y="3119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11053" y="4645661"/>
            <a:ext cx="10963908" cy="479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788" indent="-325394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El proyecto permitió recorrer el ciclo completo de ciencia de datos: desde la exploración inicial hasta el despliegue en producción y la interpretación de resultados.</a:t>
            </a:r>
          </a:p>
          <a:p>
            <a:pPr algn="l">
              <a:lnSpc>
                <a:spcPts val="4220"/>
              </a:lnSpc>
            </a:pPr>
          </a:p>
          <a:p>
            <a:pPr algn="l" marL="650788" indent="-325394" lvl="1">
              <a:lnSpc>
                <a:spcPts val="4220"/>
              </a:lnSpc>
              <a:buFont typeface="Arial"/>
              <a:buChar char="•"/>
            </a:pPr>
            <a:r>
              <a:rPr lang="en-US" sz="3014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La experiencia adquirida en limpieza, modelado, A</a:t>
            </a:r>
            <a:r>
              <a:rPr lang="en-US" sz="3014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PI y presentación constituye el principal logro, abriendo camino para futuros desarrollos y aportes en ciencia de datos aplicada a la empleabilidad juvenil.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84424" y="1384789"/>
            <a:ext cx="11190538" cy="232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  <a:spcBef>
                <a:spcPct val="0"/>
              </a:spcBef>
            </a:pPr>
            <a:r>
              <a:rPr lang="en-US" b="true" sz="8999" strike="noStrike" u="none">
                <a:solidFill>
                  <a:srgbClr val="FFFFF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CONCLUSIONES</a:t>
            </a:r>
          </a:p>
          <a:p>
            <a:pPr algn="l" marL="0" indent="0" lvl="0">
              <a:lnSpc>
                <a:spcPts val="89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true" flipV="true" rot="-5400000">
            <a:off x="-1312774" y="6883599"/>
            <a:ext cx="6806801" cy="6806801"/>
          </a:xfrm>
          <a:custGeom>
            <a:avLst/>
            <a:gdLst/>
            <a:ahLst/>
            <a:cxnLst/>
            <a:rect r="r" b="b" t="t" l="l"/>
            <a:pathLst>
              <a:path h="6806801" w="6806801">
                <a:moveTo>
                  <a:pt x="6806801" y="6806802"/>
                </a:moveTo>
                <a:lnTo>
                  <a:pt x="0" y="6806802"/>
                </a:lnTo>
                <a:lnTo>
                  <a:pt x="0" y="0"/>
                </a:lnTo>
                <a:lnTo>
                  <a:pt x="6806801" y="0"/>
                </a:lnTo>
                <a:lnTo>
                  <a:pt x="6806801" y="680680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97357" y="734897"/>
            <a:ext cx="2477604" cy="2477604"/>
          </a:xfrm>
          <a:custGeom>
            <a:avLst/>
            <a:gdLst/>
            <a:ahLst/>
            <a:cxnLst/>
            <a:rect r="r" b="b" t="t" l="l"/>
            <a:pathLst>
              <a:path h="2477604" w="2477604">
                <a:moveTo>
                  <a:pt x="0" y="0"/>
                </a:moveTo>
                <a:lnTo>
                  <a:pt x="2477605" y="0"/>
                </a:lnTo>
                <a:lnTo>
                  <a:pt x="2477605" y="2477604"/>
                </a:lnTo>
                <a:lnTo>
                  <a:pt x="0" y="247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Predicción de Aspiraciones Profesionales</dc:description>
  <dc:identifier>DAG1gfJ8xZ4</dc:identifier>
  <dcterms:modified xsi:type="dcterms:W3CDTF">2011-08-01T06:04:30Z</dcterms:modified>
  <cp:revision>1</cp:revision>
  <dc:title>Predicción de Aspiraciones Profesionales en la Generación Z</dc:title>
</cp:coreProperties>
</file>