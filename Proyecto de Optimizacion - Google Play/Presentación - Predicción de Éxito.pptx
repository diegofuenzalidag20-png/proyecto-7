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icolage Grotesque Semi-Bold" charset="1" panose="020B0605040402000204"/>
      <p:regular r:id="rId21"/>
    </p:embeddedFont>
    <p:embeddedFont>
      <p:font typeface="HK Grotesk" charset="1" panose="00000500000000000000"/>
      <p:regular r:id="rId22"/>
    </p:embeddedFont>
    <p:embeddedFont>
      <p:font typeface="Kollektif" charset="1" panose="020B0604020101010102"/>
      <p:regular r:id="rId23"/>
    </p:embeddedFont>
    <p:embeddedFont>
      <p:font typeface="Clear Sans Bold" charset="1" panose="020B0803030202020304"/>
      <p:regular r:id="rId24"/>
    </p:embeddedFont>
    <p:embeddedFont>
      <p:font typeface="Bricolage Grotesque Bold" charset="1" panose="020B0605040402000204"/>
      <p:regular r:id="rId25"/>
    </p:embeddedFont>
    <p:embeddedFont>
      <p:font typeface="HK Grotesk Bold" charset="1" panose="00000800000000000000"/>
      <p:regular r:id="rId26"/>
    </p:embeddedFont>
    <p:embeddedFont>
      <p:font typeface="HK Grotesk Medium" charset="1" panose="000006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jpeg" Type="http://schemas.openxmlformats.org/officeDocument/2006/relationships/image"/><Relationship Id="rId6"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10734675" y="666750"/>
            <a:ext cx="7759788" cy="8953500"/>
            <a:chOff x="0" y="0"/>
            <a:chExt cx="1202194" cy="1387131"/>
          </a:xfrm>
        </p:grpSpPr>
        <p:sp>
          <p:nvSpPr>
            <p:cNvPr name="Freeform 3" id="3"/>
            <p:cNvSpPr/>
            <p:nvPr/>
          </p:nvSpPr>
          <p:spPr>
            <a:xfrm flipH="false" flipV="false" rot="0">
              <a:off x="0" y="0"/>
              <a:ext cx="1202194" cy="1387131"/>
            </a:xfrm>
            <a:custGeom>
              <a:avLst/>
              <a:gdLst/>
              <a:ahLst/>
              <a:cxnLst/>
              <a:rect r="r" b="b" t="t" l="l"/>
              <a:pathLst>
                <a:path h="1387131" w="1202194">
                  <a:moveTo>
                    <a:pt x="19954" y="0"/>
                  </a:moveTo>
                  <a:lnTo>
                    <a:pt x="1182240" y="0"/>
                  </a:lnTo>
                  <a:cubicBezTo>
                    <a:pt x="1187532" y="0"/>
                    <a:pt x="1192608" y="2102"/>
                    <a:pt x="1196350" y="5844"/>
                  </a:cubicBezTo>
                  <a:cubicBezTo>
                    <a:pt x="1200092" y="9586"/>
                    <a:pt x="1202194" y="14662"/>
                    <a:pt x="1202194" y="19954"/>
                  </a:cubicBezTo>
                  <a:lnTo>
                    <a:pt x="1202194" y="1367177"/>
                  </a:lnTo>
                  <a:cubicBezTo>
                    <a:pt x="1202194" y="1378198"/>
                    <a:pt x="1193261" y="1387131"/>
                    <a:pt x="1182240" y="1387131"/>
                  </a:cubicBezTo>
                  <a:lnTo>
                    <a:pt x="19954" y="1387131"/>
                  </a:lnTo>
                  <a:cubicBezTo>
                    <a:pt x="8934" y="1387131"/>
                    <a:pt x="0" y="1378198"/>
                    <a:pt x="0" y="1367177"/>
                  </a:cubicBezTo>
                  <a:lnTo>
                    <a:pt x="0" y="19954"/>
                  </a:lnTo>
                  <a:cubicBezTo>
                    <a:pt x="0" y="8934"/>
                    <a:pt x="8934" y="0"/>
                    <a:pt x="19954" y="0"/>
                  </a:cubicBezTo>
                  <a:close/>
                </a:path>
              </a:pathLst>
            </a:custGeom>
            <a:blipFill>
              <a:blip r:embed="rId2"/>
              <a:stretch>
                <a:fillRect l="0" t="-242" r="0" b="-242"/>
              </a:stretch>
            </a:blipFill>
            <a:ln w="19050" cap="sq">
              <a:solidFill>
                <a:srgbClr val="FFFFFF"/>
              </a:solidFill>
              <a:prstDash val="solid"/>
              <a:miter/>
            </a:ln>
          </p:spPr>
        </p:sp>
      </p:grpSp>
      <p:grpSp>
        <p:nvGrpSpPr>
          <p:cNvPr name="Group 4" id="4"/>
          <p:cNvGrpSpPr/>
          <p:nvPr/>
        </p:nvGrpSpPr>
        <p:grpSpPr>
          <a:xfrm rot="0">
            <a:off x="15677043" y="6462606"/>
            <a:ext cx="3467057" cy="4305236"/>
            <a:chOff x="0" y="0"/>
            <a:chExt cx="4622743" cy="5740315"/>
          </a:xfrm>
        </p:grpSpPr>
        <p:sp>
          <p:nvSpPr>
            <p:cNvPr name="Freeform 5" id="5"/>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8100000">
              <a:off x="-106337" y="2577879"/>
              <a:ext cx="4835418" cy="1702128"/>
              <a:chOff x="0" y="0"/>
              <a:chExt cx="954623" cy="336039"/>
            </a:xfrm>
          </p:grpSpPr>
          <p:sp>
            <p:nvSpPr>
              <p:cNvPr name="Freeform 7" id="7"/>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2E395F"/>
              </a:solidFill>
              <a:ln cap="sq">
                <a:noFill/>
                <a:prstDash val="solid"/>
                <a:miter/>
              </a:ln>
            </p:spPr>
          </p:sp>
          <p:sp>
            <p:nvSpPr>
              <p:cNvPr name="TextBox 8" id="8"/>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
        <p:nvSpPr>
          <p:cNvPr name="TextBox 9" id="9"/>
          <p:cNvSpPr txBox="true"/>
          <p:nvPr/>
        </p:nvSpPr>
        <p:spPr>
          <a:xfrm rot="0">
            <a:off x="515785" y="3253744"/>
            <a:ext cx="9763125" cy="3641726"/>
          </a:xfrm>
          <a:prstGeom prst="rect">
            <a:avLst/>
          </a:prstGeom>
        </p:spPr>
        <p:txBody>
          <a:bodyPr anchor="t" rtlCol="false" tIns="0" lIns="0" bIns="0" rIns="0">
            <a:spAutoFit/>
          </a:bodyPr>
          <a:lstStyle/>
          <a:p>
            <a:pPr algn="l" marL="0" indent="0" lvl="0">
              <a:lnSpc>
                <a:spcPts val="14000"/>
              </a:lnSpc>
              <a:spcBef>
                <a:spcPct val="0"/>
              </a:spcBef>
            </a:pPr>
            <a:r>
              <a:rPr lang="en-US" b="true" sz="14000" spc="-840" strike="noStrike" u="none">
                <a:solidFill>
                  <a:srgbClr val="ECF0F1"/>
                </a:solidFill>
                <a:latin typeface="Bricolage Grotesque Semi-Bold"/>
                <a:ea typeface="Bricolage Grotesque Semi-Bold"/>
                <a:cs typeface="Bricolage Grotesque Semi-Bold"/>
                <a:sym typeface="Bricolage Grotesque Semi-Bold"/>
              </a:rPr>
              <a:t>Predicción de Éxito</a:t>
            </a:r>
          </a:p>
        </p:txBody>
      </p:sp>
      <p:sp>
        <p:nvSpPr>
          <p:cNvPr name="TextBox 10" id="10"/>
          <p:cNvSpPr txBox="true"/>
          <p:nvPr/>
        </p:nvSpPr>
        <p:spPr>
          <a:xfrm rot="0">
            <a:off x="618735" y="8940230"/>
            <a:ext cx="9557224" cy="680020"/>
          </a:xfrm>
          <a:prstGeom prst="rect">
            <a:avLst/>
          </a:prstGeom>
        </p:spPr>
        <p:txBody>
          <a:bodyPr anchor="t" rtlCol="false" tIns="0" lIns="0" bIns="0" rIns="0">
            <a:spAutoFit/>
          </a:bodyPr>
          <a:lstStyle/>
          <a:p>
            <a:pPr algn="l" marL="0" indent="0" lvl="0">
              <a:lnSpc>
                <a:spcPts val="5466"/>
              </a:lnSpc>
            </a:pPr>
            <a:r>
              <a:rPr lang="en-US" sz="4205">
                <a:solidFill>
                  <a:srgbClr val="ECF0F1"/>
                </a:solidFill>
                <a:latin typeface="HK Grotesk"/>
                <a:ea typeface="HK Grotesk"/>
                <a:cs typeface="HK Grotesk"/>
                <a:sym typeface="HK Grotesk"/>
              </a:rPr>
              <a:t>Diego Fuenzalida</a:t>
            </a:r>
          </a:p>
        </p:txBody>
      </p:sp>
      <p:sp>
        <p:nvSpPr>
          <p:cNvPr name="TextBox 11" id="11"/>
          <p:cNvSpPr txBox="true"/>
          <p:nvPr/>
        </p:nvSpPr>
        <p:spPr>
          <a:xfrm rot="0">
            <a:off x="12728309" y="1596170"/>
            <a:ext cx="3741341" cy="1085417"/>
          </a:xfrm>
          <a:prstGeom prst="rect">
            <a:avLst/>
          </a:prstGeom>
        </p:spPr>
        <p:txBody>
          <a:bodyPr anchor="t" rtlCol="false" tIns="0" lIns="0" bIns="0" rIns="0">
            <a:spAutoFit/>
          </a:bodyPr>
          <a:lstStyle/>
          <a:p>
            <a:pPr algn="ctr">
              <a:lnSpc>
                <a:spcPts val="3797"/>
              </a:lnSpc>
            </a:pPr>
            <a:r>
              <a:rPr lang="en-US" sz="2833">
                <a:solidFill>
                  <a:srgbClr val="F2F5F8"/>
                </a:solidFill>
                <a:latin typeface="Kollektif"/>
                <a:ea typeface="Kollektif"/>
                <a:cs typeface="Kollektif"/>
                <a:sym typeface="Kollektif"/>
              </a:rPr>
              <a:t>Unsuccess prediction</a:t>
            </a:r>
          </a:p>
          <a:p>
            <a:pPr algn="ctr">
              <a:lnSpc>
                <a:spcPts val="4882"/>
              </a:lnSpc>
            </a:pPr>
            <a:r>
              <a:rPr lang="en-US" sz="3643">
                <a:solidFill>
                  <a:srgbClr val="F2F5F7"/>
                </a:solidFill>
                <a:latin typeface="Clear Sans Bold"/>
                <a:ea typeface="Clear Sans Bold"/>
                <a:cs typeface="Clear Sans Bold"/>
                <a:sym typeface="Clear Sans Bold"/>
              </a:rPr>
              <a:t>A</a:t>
            </a:r>
            <a:r>
              <a:rPr lang="en-US" sz="3643">
                <a:solidFill>
                  <a:srgbClr val="F2F5F7"/>
                </a:solidFill>
                <a:latin typeface="Clear Sans Bold"/>
                <a:ea typeface="Clear Sans Bold"/>
                <a:cs typeface="Clear Sans Bold"/>
                <a:sym typeface="Clear Sans Bold"/>
              </a:rPr>
              <a:t>pps Resignation</a:t>
            </a:r>
          </a:p>
        </p:txBody>
      </p:sp>
      <p:sp>
        <p:nvSpPr>
          <p:cNvPr name="TextBox 12" id="12"/>
          <p:cNvSpPr txBox="true"/>
          <p:nvPr/>
        </p:nvSpPr>
        <p:spPr>
          <a:xfrm rot="0">
            <a:off x="14114875" y="5792828"/>
            <a:ext cx="1010708" cy="438413"/>
          </a:xfrm>
          <a:prstGeom prst="rect">
            <a:avLst/>
          </a:prstGeom>
        </p:spPr>
        <p:txBody>
          <a:bodyPr anchor="t" rtlCol="false" tIns="0" lIns="0" bIns="0" rIns="0">
            <a:spAutoFit/>
          </a:bodyPr>
          <a:lstStyle/>
          <a:p>
            <a:pPr algn="ctr">
              <a:lnSpc>
                <a:spcPts val="2330"/>
              </a:lnSpc>
            </a:pPr>
            <a:r>
              <a:rPr lang="en-US" sz="1518">
                <a:solidFill>
                  <a:srgbClr val="6B6E6C"/>
                </a:solidFill>
                <a:latin typeface="Kollektif"/>
                <a:ea typeface="Kollektif"/>
                <a:cs typeface="Kollektif"/>
                <a:sym typeface="Kollektif"/>
              </a:rPr>
              <a:t>Google Play</a:t>
            </a:r>
          </a:p>
          <a:p>
            <a:pPr algn="ctr">
              <a:lnSpc>
                <a:spcPts val="1087"/>
              </a:lnSpc>
            </a:pPr>
            <a:r>
              <a:rPr lang="en-US" sz="708">
                <a:solidFill>
                  <a:srgbClr val="A9A9A9"/>
                </a:solidFill>
                <a:latin typeface="Clear Sans Bold"/>
                <a:ea typeface="Clear Sans Bold"/>
                <a:cs typeface="Clear Sans Bold"/>
                <a:sym typeface="Clear Sans Bold"/>
              </a:rPr>
              <a:t>Genfaut Apps vedor</a:t>
            </a:r>
          </a:p>
        </p:txBody>
      </p:sp>
      <p:sp>
        <p:nvSpPr>
          <p:cNvPr name="TextBox 13" id="13"/>
          <p:cNvSpPr txBox="true"/>
          <p:nvPr/>
        </p:nvSpPr>
        <p:spPr>
          <a:xfrm rot="0">
            <a:off x="14542257" y="6518848"/>
            <a:ext cx="176742" cy="74158"/>
          </a:xfrm>
          <a:prstGeom prst="rect">
            <a:avLst/>
          </a:prstGeom>
        </p:spPr>
        <p:txBody>
          <a:bodyPr anchor="t" rtlCol="false" tIns="0" lIns="0" bIns="0" rIns="0">
            <a:spAutoFit/>
          </a:bodyPr>
          <a:lstStyle/>
          <a:p>
            <a:pPr algn="ctr">
              <a:lnSpc>
                <a:spcPts val="637"/>
              </a:lnSpc>
            </a:pPr>
            <a:r>
              <a:rPr lang="en-US" sz="455">
                <a:solidFill>
                  <a:srgbClr val="A8E0FA"/>
                </a:solidFill>
                <a:latin typeface="Clear Sans Bold"/>
                <a:ea typeface="Clear Sans Bold"/>
                <a:cs typeface="Clear Sans Bold"/>
                <a:sym typeface="Clear Sans Bold"/>
              </a:rPr>
              <a:t>START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9296400" y="666750"/>
            <a:ext cx="8324850" cy="3513968"/>
            <a:chOff x="0" y="0"/>
            <a:chExt cx="11099800" cy="4685290"/>
          </a:xfrm>
        </p:grpSpPr>
        <p:sp>
          <p:nvSpPr>
            <p:cNvPr name="TextBox 3" id="3"/>
            <p:cNvSpPr txBox="true"/>
            <p:nvPr/>
          </p:nvSpPr>
          <p:spPr>
            <a:xfrm rot="0">
              <a:off x="0" y="133350"/>
              <a:ext cx="11099800" cy="3647017"/>
            </a:xfrm>
            <a:prstGeom prst="rect">
              <a:avLst/>
            </a:prstGeom>
          </p:spPr>
          <p:txBody>
            <a:bodyPr anchor="t" rtlCol="false" tIns="0" lIns="0" bIns="0" rIns="0">
              <a:spAutoFit/>
            </a:bodyPr>
            <a:lstStyle/>
            <a:p>
              <a:pPr algn="l" marL="0" indent="0" lvl="0">
                <a:lnSpc>
                  <a:spcPts val="6999"/>
                </a:lnSpc>
                <a:spcBef>
                  <a:spcPct val="0"/>
                </a:spcBef>
              </a:pPr>
              <a:r>
                <a:rPr lang="en-US" b="true" sz="6999" spc="-209" strike="noStrike" u="none">
                  <a:solidFill>
                    <a:srgbClr val="E43F5A"/>
                  </a:solidFill>
                  <a:latin typeface="Bricolage Grotesque Semi-Bold"/>
                  <a:ea typeface="Bricolage Grotesque Semi-Bold"/>
                  <a:cs typeface="Bricolage Grotesque Semi-Bold"/>
                  <a:sym typeface="Bricolage Grotesque Semi-Bold"/>
                </a:rPr>
                <a:t>Introducción al Proyecto de Predicción</a:t>
              </a:r>
            </a:p>
          </p:txBody>
        </p:sp>
        <p:sp>
          <p:nvSpPr>
            <p:cNvPr name="TextBox 4" id="4"/>
            <p:cNvSpPr txBox="true"/>
            <p:nvPr/>
          </p:nvSpPr>
          <p:spPr>
            <a:xfrm rot="0">
              <a:off x="0" y="4049655"/>
              <a:ext cx="11099800" cy="635635"/>
            </a:xfrm>
            <a:prstGeom prst="rect">
              <a:avLst/>
            </a:prstGeom>
          </p:spPr>
          <p:txBody>
            <a:bodyPr anchor="t" rtlCol="false" tIns="0" lIns="0" bIns="0" rIns="0">
              <a:spAutoFit/>
            </a:bodyPr>
            <a:lstStyle/>
            <a:p>
              <a:pPr algn="l" marL="0" indent="0" lvl="0">
                <a:lnSpc>
                  <a:spcPts val="3851"/>
                </a:lnSpc>
              </a:pPr>
              <a:r>
                <a:rPr lang="en-US" sz="2962">
                  <a:solidFill>
                    <a:srgbClr val="ECF0F1"/>
                  </a:solidFill>
                  <a:latin typeface="HK Grotesk"/>
                  <a:ea typeface="HK Grotesk"/>
                  <a:cs typeface="HK Grotesk"/>
                  <a:sym typeface="HK Grotesk"/>
                </a:rPr>
                <a:t>Importancia de la Optimización de Recursos</a:t>
              </a:r>
            </a:p>
          </p:txBody>
        </p:sp>
      </p:grpSp>
      <p:grpSp>
        <p:nvGrpSpPr>
          <p:cNvPr name="Group 5" id="5"/>
          <p:cNvGrpSpPr/>
          <p:nvPr/>
        </p:nvGrpSpPr>
        <p:grpSpPr>
          <a:xfrm rot="0">
            <a:off x="9296400" y="5143500"/>
            <a:ext cx="4010025" cy="4225290"/>
            <a:chOff x="0" y="0"/>
            <a:chExt cx="5346700" cy="5633720"/>
          </a:xfrm>
        </p:grpSpPr>
        <p:sp>
          <p:nvSpPr>
            <p:cNvPr name="TextBox 6" id="6"/>
            <p:cNvSpPr txBox="true"/>
            <p:nvPr/>
          </p:nvSpPr>
          <p:spPr>
            <a:xfrm rot="0">
              <a:off x="0" y="-9525"/>
              <a:ext cx="5346700" cy="1203325"/>
            </a:xfrm>
            <a:prstGeom prst="rect">
              <a:avLst/>
            </a:prstGeom>
          </p:spPr>
          <p:txBody>
            <a:bodyPr anchor="t" rtlCol="false" tIns="0" lIns="0" bIns="0" rIns="0">
              <a:spAutoFit/>
            </a:bodyPr>
            <a:lstStyle/>
            <a:p>
              <a:pPr algn="l" marL="0" indent="0" lvl="0">
                <a:lnSpc>
                  <a:spcPts val="3554"/>
                </a:lnSpc>
                <a:spcBef>
                  <a:spcPct val="0"/>
                </a:spcBef>
              </a:pPr>
              <a:r>
                <a:rPr lang="en-US" b="true" sz="2962" strike="noStrike" u="none">
                  <a:solidFill>
                    <a:srgbClr val="ECF0F1"/>
                  </a:solidFill>
                  <a:latin typeface="Bricolage Grotesque Bold"/>
                  <a:ea typeface="Bricolage Grotesque Bold"/>
                  <a:cs typeface="Bricolage Grotesque Bold"/>
                  <a:sym typeface="Bricolage Grotesque Bold"/>
                </a:rPr>
                <a:t>Objetivo: Predecir Éxito de Apps</a:t>
              </a:r>
            </a:p>
          </p:txBody>
        </p:sp>
        <p:sp>
          <p:nvSpPr>
            <p:cNvPr name="TextBox 7" id="7"/>
            <p:cNvSpPr txBox="true"/>
            <p:nvPr/>
          </p:nvSpPr>
          <p:spPr>
            <a:xfrm rot="0">
              <a:off x="0" y="2314575"/>
              <a:ext cx="5346700" cy="33191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Calificación mínima de 4.5</a:t>
              </a:r>
            </a:p>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Focalización en apps emergentes</a:t>
              </a:r>
            </a:p>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Apoyo en toma de decisiones</a:t>
              </a:r>
            </a:p>
          </p:txBody>
        </p:sp>
      </p:grpSp>
      <p:grpSp>
        <p:nvGrpSpPr>
          <p:cNvPr name="Group 8" id="8"/>
          <p:cNvGrpSpPr/>
          <p:nvPr/>
        </p:nvGrpSpPr>
        <p:grpSpPr>
          <a:xfrm rot="0">
            <a:off x="13611225" y="5143500"/>
            <a:ext cx="4010025" cy="4225290"/>
            <a:chOff x="0" y="0"/>
            <a:chExt cx="5346700" cy="5633720"/>
          </a:xfrm>
        </p:grpSpPr>
        <p:sp>
          <p:nvSpPr>
            <p:cNvPr name="TextBox 9" id="9"/>
            <p:cNvSpPr txBox="true"/>
            <p:nvPr/>
          </p:nvSpPr>
          <p:spPr>
            <a:xfrm rot="0">
              <a:off x="0" y="-9525"/>
              <a:ext cx="5346700" cy="1203325"/>
            </a:xfrm>
            <a:prstGeom prst="rect">
              <a:avLst/>
            </a:prstGeom>
          </p:spPr>
          <p:txBody>
            <a:bodyPr anchor="t" rtlCol="false" tIns="0" lIns="0" bIns="0" rIns="0">
              <a:spAutoFit/>
            </a:bodyPr>
            <a:lstStyle/>
            <a:p>
              <a:pPr algn="l" marL="0" indent="0" lvl="0">
                <a:lnSpc>
                  <a:spcPts val="3554"/>
                </a:lnSpc>
                <a:spcBef>
                  <a:spcPct val="0"/>
                </a:spcBef>
              </a:pPr>
              <a:r>
                <a:rPr lang="en-US" b="true" sz="2962" strike="noStrike" u="none">
                  <a:solidFill>
                    <a:srgbClr val="ECF0F1"/>
                  </a:solidFill>
                  <a:latin typeface="Bricolage Grotesque Bold"/>
                  <a:ea typeface="Bricolage Grotesque Bold"/>
                  <a:cs typeface="Bricolage Grotesque Bold"/>
                  <a:sym typeface="Bricolage Grotesque Bold"/>
                </a:rPr>
                <a:t>Contexto del Mercado de Apps</a:t>
              </a:r>
            </a:p>
          </p:txBody>
        </p:sp>
        <p:sp>
          <p:nvSpPr>
            <p:cNvPr name="TextBox 10" id="10"/>
            <p:cNvSpPr txBox="true"/>
            <p:nvPr/>
          </p:nvSpPr>
          <p:spPr>
            <a:xfrm rot="0">
              <a:off x="0" y="2314575"/>
              <a:ext cx="5346700" cy="33191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Solo 27% alcanza popularidad</a:t>
              </a:r>
            </a:p>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Desafíos en anticipar éxitos</a:t>
              </a:r>
            </a:p>
            <a:p>
              <a:pPr algn="l" marL="518160" indent="-259080" lvl="1">
                <a:lnSpc>
                  <a:spcPts val="3359"/>
                </a:lnSpc>
                <a:buFont typeface="Arial"/>
                <a:buChar char="•"/>
              </a:pPr>
              <a:r>
                <a:rPr lang="en-US" sz="2400">
                  <a:solidFill>
                    <a:srgbClr val="ECF0F1"/>
                  </a:solidFill>
                  <a:latin typeface="HK Grotesk"/>
                  <a:ea typeface="HK Grotesk"/>
                  <a:cs typeface="HK Grotesk"/>
                  <a:sym typeface="HK Grotesk"/>
                </a:rPr>
                <a:t>Necesidad de optimización continua</a:t>
              </a:r>
            </a:p>
          </p:txBody>
        </p:sp>
      </p:grpSp>
      <p:grpSp>
        <p:nvGrpSpPr>
          <p:cNvPr name="Group 11" id="11"/>
          <p:cNvGrpSpPr/>
          <p:nvPr/>
        </p:nvGrpSpPr>
        <p:grpSpPr>
          <a:xfrm rot="0">
            <a:off x="-282408" y="-295776"/>
            <a:ext cx="8140533" cy="10878553"/>
            <a:chOff x="0" y="0"/>
            <a:chExt cx="1261182" cy="1685372"/>
          </a:xfrm>
        </p:grpSpPr>
        <p:sp>
          <p:nvSpPr>
            <p:cNvPr name="Freeform 12" id="12"/>
            <p:cNvSpPr/>
            <p:nvPr/>
          </p:nvSpPr>
          <p:spPr>
            <a:xfrm flipH="false" flipV="false" rot="0">
              <a:off x="0" y="0"/>
              <a:ext cx="1261182" cy="1685373"/>
            </a:xfrm>
            <a:custGeom>
              <a:avLst/>
              <a:gdLst/>
              <a:ahLst/>
              <a:cxnLst/>
              <a:rect r="r" b="b" t="t" l="l"/>
              <a:pathLst>
                <a:path h="1685373" w="1261182">
                  <a:moveTo>
                    <a:pt x="19021" y="0"/>
                  </a:moveTo>
                  <a:lnTo>
                    <a:pt x="1242161" y="0"/>
                  </a:lnTo>
                  <a:cubicBezTo>
                    <a:pt x="1252666" y="0"/>
                    <a:pt x="1261182" y="8516"/>
                    <a:pt x="1261182" y="19021"/>
                  </a:cubicBezTo>
                  <a:lnTo>
                    <a:pt x="1261182" y="1666352"/>
                  </a:lnTo>
                  <a:cubicBezTo>
                    <a:pt x="1261182" y="1676857"/>
                    <a:pt x="1252666" y="1685373"/>
                    <a:pt x="1242161" y="1685373"/>
                  </a:cubicBezTo>
                  <a:lnTo>
                    <a:pt x="19021" y="1685373"/>
                  </a:lnTo>
                  <a:cubicBezTo>
                    <a:pt x="13976" y="1685373"/>
                    <a:pt x="9138" y="1683369"/>
                    <a:pt x="5571" y="1679802"/>
                  </a:cubicBezTo>
                  <a:cubicBezTo>
                    <a:pt x="2004" y="1676235"/>
                    <a:pt x="0" y="1671396"/>
                    <a:pt x="0" y="1666352"/>
                  </a:cubicBezTo>
                  <a:lnTo>
                    <a:pt x="0" y="19021"/>
                  </a:lnTo>
                  <a:cubicBezTo>
                    <a:pt x="0" y="8516"/>
                    <a:pt x="8516" y="0"/>
                    <a:pt x="19021" y="0"/>
                  </a:cubicBezTo>
                  <a:close/>
                </a:path>
              </a:pathLst>
            </a:custGeom>
            <a:blipFill>
              <a:blip r:embed="rId2"/>
              <a:stretch>
                <a:fillRect l="0" t="-391" r="0" b="-391"/>
              </a:stretch>
            </a:blipFill>
            <a:ln w="19050" cap="sq">
              <a:solidFill>
                <a:srgbClr val="000000"/>
              </a:solidFill>
              <a:prstDash val="solid"/>
              <a:miter/>
            </a:ln>
          </p:spPr>
        </p:sp>
      </p:grpSp>
      <p:grpSp>
        <p:nvGrpSpPr>
          <p:cNvPr name="Group 13" id="13"/>
          <p:cNvGrpSpPr/>
          <p:nvPr/>
        </p:nvGrpSpPr>
        <p:grpSpPr>
          <a:xfrm rot="0">
            <a:off x="16182975" y="7105682"/>
            <a:ext cx="3467057" cy="4305236"/>
            <a:chOff x="0" y="0"/>
            <a:chExt cx="4622743" cy="5740315"/>
          </a:xfrm>
        </p:grpSpPr>
        <p:sp>
          <p:nvSpPr>
            <p:cNvPr name="Freeform 14" id="14"/>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8100000">
              <a:off x="-106337" y="2577879"/>
              <a:ext cx="4835418" cy="1702128"/>
              <a:chOff x="0" y="0"/>
              <a:chExt cx="954623" cy="336039"/>
            </a:xfrm>
          </p:grpSpPr>
          <p:sp>
            <p:nvSpPr>
              <p:cNvPr name="Freeform 16" id="16"/>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7" id="17"/>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10429875" y="-260311"/>
            <a:ext cx="8517815" cy="10807622"/>
            <a:chOff x="0" y="0"/>
            <a:chExt cx="1747482" cy="2217250"/>
          </a:xfrm>
        </p:grpSpPr>
        <p:sp>
          <p:nvSpPr>
            <p:cNvPr name="Freeform 3" id="3"/>
            <p:cNvSpPr/>
            <p:nvPr/>
          </p:nvSpPr>
          <p:spPr>
            <a:xfrm flipH="false" flipV="false" rot="0">
              <a:off x="0" y="0"/>
              <a:ext cx="1747482" cy="2217250"/>
            </a:xfrm>
            <a:custGeom>
              <a:avLst/>
              <a:gdLst/>
              <a:ahLst/>
              <a:cxnLst/>
              <a:rect r="r" b="b" t="t" l="l"/>
              <a:pathLst>
                <a:path h="2217250" w="1747482">
                  <a:moveTo>
                    <a:pt x="18178" y="0"/>
                  </a:moveTo>
                  <a:lnTo>
                    <a:pt x="1729304" y="0"/>
                  </a:lnTo>
                  <a:cubicBezTo>
                    <a:pt x="1739344" y="0"/>
                    <a:pt x="1747482" y="8139"/>
                    <a:pt x="1747482" y="18178"/>
                  </a:cubicBezTo>
                  <a:lnTo>
                    <a:pt x="1747482" y="2199072"/>
                  </a:lnTo>
                  <a:cubicBezTo>
                    <a:pt x="1747482" y="2209112"/>
                    <a:pt x="1739344" y="2217250"/>
                    <a:pt x="1729304" y="2217250"/>
                  </a:cubicBezTo>
                  <a:lnTo>
                    <a:pt x="18178" y="2217250"/>
                  </a:lnTo>
                  <a:cubicBezTo>
                    <a:pt x="8139" y="2217250"/>
                    <a:pt x="0" y="2209112"/>
                    <a:pt x="0" y="2199072"/>
                  </a:cubicBezTo>
                  <a:lnTo>
                    <a:pt x="0" y="18178"/>
                  </a:lnTo>
                  <a:cubicBezTo>
                    <a:pt x="0" y="8139"/>
                    <a:pt x="8139" y="0"/>
                    <a:pt x="18178" y="0"/>
                  </a:cubicBezTo>
                  <a:close/>
                </a:path>
              </a:pathLst>
            </a:custGeom>
            <a:blipFill>
              <a:blip r:embed="rId2"/>
              <a:stretch>
                <a:fillRect l="0" t="-359" r="0" b="-359"/>
              </a:stretch>
            </a:blipFill>
            <a:ln w="19050" cap="sq">
              <a:solidFill>
                <a:srgbClr val="000000"/>
              </a:solidFill>
              <a:prstDash val="solid"/>
              <a:miter/>
            </a:ln>
          </p:spPr>
        </p:sp>
      </p:grpSp>
      <p:grpSp>
        <p:nvGrpSpPr>
          <p:cNvPr name="Group 4" id="4"/>
          <p:cNvGrpSpPr/>
          <p:nvPr/>
        </p:nvGrpSpPr>
        <p:grpSpPr>
          <a:xfrm rot="0">
            <a:off x="666750" y="666750"/>
            <a:ext cx="8324850" cy="4194175"/>
            <a:chOff x="0" y="0"/>
            <a:chExt cx="11099800" cy="5592233"/>
          </a:xfrm>
        </p:grpSpPr>
        <p:sp>
          <p:nvSpPr>
            <p:cNvPr name="TextBox 5" id="5"/>
            <p:cNvSpPr txBox="true"/>
            <p:nvPr/>
          </p:nvSpPr>
          <p:spPr>
            <a:xfrm rot="0">
              <a:off x="0" y="133350"/>
              <a:ext cx="11099800" cy="2465917"/>
            </a:xfrm>
            <a:prstGeom prst="rect">
              <a:avLst/>
            </a:prstGeom>
          </p:spPr>
          <p:txBody>
            <a:bodyPr anchor="t" rtlCol="false" tIns="0" lIns="0" bIns="0" rIns="0">
              <a:spAutoFit/>
            </a:bodyPr>
            <a:lstStyle/>
            <a:p>
              <a:pPr algn="l" marL="0" indent="0" lvl="0">
                <a:lnSpc>
                  <a:spcPts val="6999"/>
                </a:lnSpc>
                <a:spcBef>
                  <a:spcPct val="0"/>
                </a:spcBef>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El Desafío de Predecir Éxitos</a:t>
              </a:r>
            </a:p>
          </p:txBody>
        </p:sp>
        <p:sp>
          <p:nvSpPr>
            <p:cNvPr name="TextBox 6" id="6"/>
            <p:cNvSpPr txBox="true"/>
            <p:nvPr/>
          </p:nvSpPr>
          <p:spPr>
            <a:xfrm rot="0">
              <a:off x="0" y="4144433"/>
              <a:ext cx="11099800" cy="14478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Predecir el éxito de apps en Google Play es complejo; solo el 27% alcanzan calificaciones superiores a 4.5. Esto representa un </a:t>
              </a:r>
              <a:r>
                <a:rPr lang="en-US" b="true" sz="2400" strike="noStrike" u="none">
                  <a:solidFill>
                    <a:srgbClr val="ECF0F1"/>
                  </a:solidFill>
                  <a:latin typeface="HK Grotesk Bold"/>
                  <a:ea typeface="HK Grotesk Bold"/>
                  <a:cs typeface="HK Grotesk Bold"/>
                  <a:sym typeface="HK Grotesk Bold"/>
                </a:rPr>
                <a:t>retador entorno</a:t>
              </a:r>
              <a:r>
                <a:rPr lang="en-US" sz="2400" strike="noStrike" u="none">
                  <a:solidFill>
                    <a:srgbClr val="ECF0F1"/>
                  </a:solidFill>
                  <a:latin typeface="HK Grotesk"/>
                  <a:ea typeface="HK Grotesk"/>
                  <a:cs typeface="HK Grotesk"/>
                  <a:sym typeface="HK Grotesk"/>
                </a:rPr>
                <a:t> para nuestro modelo predictivo.</a:t>
              </a:r>
            </a:p>
          </p:txBody>
        </p:sp>
        <p:sp>
          <p:nvSpPr>
            <p:cNvPr name="TextBox 7" id="7"/>
            <p:cNvSpPr txBox="true"/>
            <p:nvPr/>
          </p:nvSpPr>
          <p:spPr>
            <a:xfrm rot="0">
              <a:off x="0" y="2941108"/>
              <a:ext cx="110998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Encontrando la aguja en el pajar</a:t>
              </a:r>
            </a:p>
          </p:txBody>
        </p:sp>
      </p:grpSp>
      <p:grpSp>
        <p:nvGrpSpPr>
          <p:cNvPr name="Group 8" id="8"/>
          <p:cNvGrpSpPr/>
          <p:nvPr/>
        </p:nvGrpSpPr>
        <p:grpSpPr>
          <a:xfrm rot="0">
            <a:off x="8696346" y="6934200"/>
            <a:ext cx="3467057" cy="4305236"/>
            <a:chOff x="0" y="0"/>
            <a:chExt cx="4622743" cy="5740315"/>
          </a:xfrm>
        </p:grpSpPr>
        <p:sp>
          <p:nvSpPr>
            <p:cNvPr name="Freeform 9" id="9"/>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8100000">
              <a:off x="-106337" y="2577879"/>
              <a:ext cx="4835418" cy="1702128"/>
              <a:chOff x="0" y="0"/>
              <a:chExt cx="954623" cy="336039"/>
            </a:xfrm>
          </p:grpSpPr>
          <p:sp>
            <p:nvSpPr>
              <p:cNvPr name="Freeform 11" id="11"/>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2" id="12"/>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TextBox 2" id="2"/>
          <p:cNvSpPr txBox="true"/>
          <p:nvPr/>
        </p:nvSpPr>
        <p:spPr>
          <a:xfrm rot="0">
            <a:off x="9296400" y="800100"/>
            <a:ext cx="6866887" cy="1816100"/>
          </a:xfrm>
          <a:prstGeom prst="rect">
            <a:avLst/>
          </a:prstGeom>
        </p:spPr>
        <p:txBody>
          <a:bodyPr anchor="t" rtlCol="false" tIns="0" lIns="0" bIns="0" rIns="0">
            <a:spAutoFit/>
          </a:bodyPr>
          <a:lstStyle/>
          <a:p>
            <a:pPr algn="l" marL="0" indent="0" lvl="0">
              <a:lnSpc>
                <a:spcPts val="6999"/>
              </a:lnSpc>
              <a:spcBef>
                <a:spcPct val="0"/>
              </a:spcBef>
            </a:pPr>
            <a:r>
              <a:rPr lang="en-US" b="true" sz="6999" strike="noStrike" u="none">
                <a:solidFill>
                  <a:srgbClr val="ECF0F1"/>
                </a:solidFill>
                <a:latin typeface="Bricolage Grotesque Bold"/>
                <a:ea typeface="Bricolage Grotesque Bold"/>
                <a:cs typeface="Bricolage Grotesque Bold"/>
                <a:sym typeface="Bricolage Grotesque Bold"/>
              </a:rPr>
              <a:t>Objetivo del Proyecto</a:t>
            </a:r>
          </a:p>
        </p:txBody>
      </p:sp>
      <p:grpSp>
        <p:nvGrpSpPr>
          <p:cNvPr name="Group 3" id="3"/>
          <p:cNvGrpSpPr/>
          <p:nvPr/>
        </p:nvGrpSpPr>
        <p:grpSpPr>
          <a:xfrm rot="0">
            <a:off x="9296400" y="4248150"/>
            <a:ext cx="5448300" cy="911024"/>
            <a:chOff x="0" y="0"/>
            <a:chExt cx="7264400" cy="1214699"/>
          </a:xfrm>
        </p:grpSpPr>
        <p:sp>
          <p:nvSpPr>
            <p:cNvPr name="TextBox 4" id="4"/>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Predicción de Éxito en Apps</a:t>
              </a:r>
            </a:p>
          </p:txBody>
        </p:sp>
        <p:sp>
          <p:nvSpPr>
            <p:cNvPr name="TextBox 5" id="5"/>
            <p:cNvSpPr txBox="true"/>
            <p:nvPr/>
          </p:nvSpPr>
          <p:spPr>
            <a:xfrm rot="0">
              <a:off x="0" y="7320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Predecir calificaciones de apps</a:t>
              </a:r>
            </a:p>
          </p:txBody>
        </p:sp>
      </p:grpSp>
      <p:grpSp>
        <p:nvGrpSpPr>
          <p:cNvPr name="Group 6" id="6"/>
          <p:cNvGrpSpPr/>
          <p:nvPr/>
        </p:nvGrpSpPr>
        <p:grpSpPr>
          <a:xfrm rot="0">
            <a:off x="9296400" y="5810250"/>
            <a:ext cx="5448300" cy="1368224"/>
            <a:chOff x="0" y="0"/>
            <a:chExt cx="7264400" cy="1824299"/>
          </a:xfrm>
        </p:grpSpPr>
        <p:sp>
          <p:nvSpPr>
            <p:cNvPr name="TextBox 7" id="7"/>
            <p:cNvSpPr txBox="true"/>
            <p:nvPr/>
          </p:nvSpPr>
          <p:spPr>
            <a:xfrm rot="0">
              <a:off x="0" y="-9525"/>
              <a:ext cx="7264400" cy="12287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Estadísticas del Mercado Actual</a:t>
              </a:r>
            </a:p>
          </p:txBody>
        </p:sp>
        <p:sp>
          <p:nvSpPr>
            <p:cNvPr name="TextBox 8" id="8"/>
            <p:cNvSpPr txBox="true"/>
            <p:nvPr/>
          </p:nvSpPr>
          <p:spPr>
            <a:xfrm rot="0">
              <a:off x="0" y="13416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Solo 27% alcanzan popularidad</a:t>
              </a:r>
            </a:p>
          </p:txBody>
        </p:sp>
      </p:grpSp>
      <p:grpSp>
        <p:nvGrpSpPr>
          <p:cNvPr name="Group 9" id="9"/>
          <p:cNvGrpSpPr/>
          <p:nvPr/>
        </p:nvGrpSpPr>
        <p:grpSpPr>
          <a:xfrm rot="0">
            <a:off x="9296400" y="7829550"/>
            <a:ext cx="5448300" cy="911024"/>
            <a:chOff x="0" y="0"/>
            <a:chExt cx="7264400" cy="1214699"/>
          </a:xfrm>
        </p:grpSpPr>
        <p:sp>
          <p:nvSpPr>
            <p:cNvPr name="TextBox 10" id="10"/>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Desafíos en la Anticipación</a:t>
              </a:r>
            </a:p>
          </p:txBody>
        </p:sp>
        <p:sp>
          <p:nvSpPr>
            <p:cNvPr name="TextBox 11" id="11"/>
            <p:cNvSpPr txBox="true"/>
            <p:nvPr/>
          </p:nvSpPr>
          <p:spPr>
            <a:xfrm rot="0">
              <a:off x="0" y="7320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Dificultad en predecir éxitos</a:t>
              </a:r>
            </a:p>
          </p:txBody>
        </p:sp>
      </p:grpSp>
      <p:grpSp>
        <p:nvGrpSpPr>
          <p:cNvPr name="Group 12" id="12"/>
          <p:cNvGrpSpPr/>
          <p:nvPr/>
        </p:nvGrpSpPr>
        <p:grpSpPr>
          <a:xfrm rot="0">
            <a:off x="-282408" y="-295776"/>
            <a:ext cx="8140533" cy="10878553"/>
            <a:chOff x="0" y="0"/>
            <a:chExt cx="1261182" cy="1685372"/>
          </a:xfrm>
        </p:grpSpPr>
        <p:sp>
          <p:nvSpPr>
            <p:cNvPr name="Freeform 13" id="13"/>
            <p:cNvSpPr/>
            <p:nvPr/>
          </p:nvSpPr>
          <p:spPr>
            <a:xfrm flipH="false" flipV="false" rot="0">
              <a:off x="0" y="0"/>
              <a:ext cx="1261182" cy="1685373"/>
            </a:xfrm>
            <a:custGeom>
              <a:avLst/>
              <a:gdLst/>
              <a:ahLst/>
              <a:cxnLst/>
              <a:rect r="r" b="b" t="t" l="l"/>
              <a:pathLst>
                <a:path h="1685373" w="1261182">
                  <a:moveTo>
                    <a:pt x="19021" y="0"/>
                  </a:moveTo>
                  <a:lnTo>
                    <a:pt x="1242161" y="0"/>
                  </a:lnTo>
                  <a:cubicBezTo>
                    <a:pt x="1252666" y="0"/>
                    <a:pt x="1261182" y="8516"/>
                    <a:pt x="1261182" y="19021"/>
                  </a:cubicBezTo>
                  <a:lnTo>
                    <a:pt x="1261182" y="1666352"/>
                  </a:lnTo>
                  <a:cubicBezTo>
                    <a:pt x="1261182" y="1676857"/>
                    <a:pt x="1252666" y="1685373"/>
                    <a:pt x="1242161" y="1685373"/>
                  </a:cubicBezTo>
                  <a:lnTo>
                    <a:pt x="19021" y="1685373"/>
                  </a:lnTo>
                  <a:cubicBezTo>
                    <a:pt x="13976" y="1685373"/>
                    <a:pt x="9138" y="1683369"/>
                    <a:pt x="5571" y="1679802"/>
                  </a:cubicBezTo>
                  <a:cubicBezTo>
                    <a:pt x="2004" y="1676235"/>
                    <a:pt x="0" y="1671396"/>
                    <a:pt x="0" y="1666352"/>
                  </a:cubicBezTo>
                  <a:lnTo>
                    <a:pt x="0" y="19021"/>
                  </a:lnTo>
                  <a:cubicBezTo>
                    <a:pt x="0" y="8516"/>
                    <a:pt x="8516" y="0"/>
                    <a:pt x="19021" y="0"/>
                  </a:cubicBezTo>
                  <a:close/>
                </a:path>
              </a:pathLst>
            </a:custGeom>
            <a:blipFill>
              <a:blip r:embed="rId2"/>
              <a:stretch>
                <a:fillRect l="0" t="-391" r="0" b="-391"/>
              </a:stretch>
            </a:blipFill>
            <a:ln w="19050" cap="sq">
              <a:solidFill>
                <a:srgbClr val="000000"/>
              </a:solidFill>
              <a:prstDash val="solid"/>
              <a:miter/>
            </a:ln>
          </p:spPr>
        </p:sp>
      </p:grpSp>
      <p:grpSp>
        <p:nvGrpSpPr>
          <p:cNvPr name="Group 14" id="14"/>
          <p:cNvGrpSpPr/>
          <p:nvPr/>
        </p:nvGrpSpPr>
        <p:grpSpPr>
          <a:xfrm rot="0">
            <a:off x="15493924" y="6934200"/>
            <a:ext cx="3467057" cy="4305236"/>
            <a:chOff x="0" y="0"/>
            <a:chExt cx="4622743" cy="5740315"/>
          </a:xfrm>
        </p:grpSpPr>
        <p:sp>
          <p:nvSpPr>
            <p:cNvPr name="Freeform 15" id="15"/>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8100000">
              <a:off x="-106337" y="2577879"/>
              <a:ext cx="4835418" cy="1702128"/>
              <a:chOff x="0" y="0"/>
              <a:chExt cx="954623" cy="336039"/>
            </a:xfrm>
          </p:grpSpPr>
          <p:sp>
            <p:nvSpPr>
              <p:cNvPr name="Freeform 17" id="17"/>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8" id="18"/>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666750" y="6038850"/>
            <a:ext cx="5448300" cy="2981023"/>
            <a:chOff x="0" y="0"/>
            <a:chExt cx="7264400" cy="3974697"/>
          </a:xfrm>
        </p:grpSpPr>
        <p:sp>
          <p:nvSpPr>
            <p:cNvPr name="TextBox 3" id="3"/>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Desbalance de Clases</a:t>
              </a:r>
            </a:p>
          </p:txBody>
        </p:sp>
        <p:sp>
          <p:nvSpPr>
            <p:cNvPr name="TextBox 4" id="4"/>
            <p:cNvSpPr txBox="true"/>
            <p:nvPr/>
          </p:nvSpPr>
          <p:spPr>
            <a:xfrm rot="0">
              <a:off x="0" y="1214352"/>
              <a:ext cx="7264400" cy="27603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El desbalance de clases en el mercado de apps afecta la precisión de las predicciones, dificultando identificar </a:t>
              </a:r>
              <a:r>
                <a:rPr lang="en-US" b="true" sz="2400">
                  <a:solidFill>
                    <a:srgbClr val="ECF0F1"/>
                  </a:solidFill>
                  <a:latin typeface="HK Grotesk Bold"/>
                  <a:ea typeface="HK Grotesk Bold"/>
                  <a:cs typeface="HK Grotesk Bold"/>
                  <a:sym typeface="HK Grotesk Bold"/>
                </a:rPr>
                <a:t>realmente</a:t>
              </a:r>
              <a:r>
                <a:rPr lang="en-US" sz="2400">
                  <a:solidFill>
                    <a:srgbClr val="ECF0F1"/>
                  </a:solidFill>
                  <a:latin typeface="HK Grotesk"/>
                  <a:ea typeface="HK Grotesk"/>
                  <a:cs typeface="HK Grotesk"/>
                  <a:sym typeface="HK Grotesk"/>
                </a:rPr>
                <a:t> las aplicaciones con mayor potencial de éxito en Google Play.</a:t>
              </a:r>
            </a:p>
          </p:txBody>
        </p:sp>
      </p:grpSp>
      <p:grpSp>
        <p:nvGrpSpPr>
          <p:cNvPr name="Group 5" id="5"/>
          <p:cNvGrpSpPr/>
          <p:nvPr/>
        </p:nvGrpSpPr>
        <p:grpSpPr>
          <a:xfrm rot="0">
            <a:off x="7858125" y="6038850"/>
            <a:ext cx="5448300" cy="2981023"/>
            <a:chOff x="0" y="0"/>
            <a:chExt cx="7264400" cy="3974697"/>
          </a:xfrm>
        </p:grpSpPr>
        <p:sp>
          <p:nvSpPr>
            <p:cNvPr name="TextBox 6" id="6"/>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Impacto del Desafío</a:t>
              </a:r>
            </a:p>
          </p:txBody>
        </p:sp>
        <p:sp>
          <p:nvSpPr>
            <p:cNvPr name="TextBox 7" id="7"/>
            <p:cNvSpPr txBox="true"/>
            <p:nvPr/>
          </p:nvSpPr>
          <p:spPr>
            <a:xfrm rot="0">
              <a:off x="0" y="1214352"/>
              <a:ext cx="7264400" cy="27603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Este problema reduce la utilidad del modelo, ya que únicamente se enfoca en una pequeña porción de datos, limitando </a:t>
              </a:r>
              <a:r>
                <a:rPr lang="en-US" b="true" sz="2400">
                  <a:solidFill>
                    <a:srgbClr val="ECF0F1"/>
                  </a:solidFill>
                  <a:latin typeface="HK Grotesk Bold"/>
                  <a:ea typeface="HK Grotesk Bold"/>
                  <a:cs typeface="HK Grotesk Bold"/>
                  <a:sym typeface="HK Grotesk Bold"/>
                </a:rPr>
                <a:t>así</a:t>
              </a:r>
              <a:r>
                <a:rPr lang="en-US" sz="2400">
                  <a:solidFill>
                    <a:srgbClr val="ECF0F1"/>
                  </a:solidFill>
                  <a:latin typeface="HK Grotesk"/>
                  <a:ea typeface="HK Grotesk"/>
                  <a:cs typeface="HK Grotesk"/>
                  <a:sym typeface="HK Grotesk"/>
                </a:rPr>
                <a:t> la capacidad de ofrecer resultados confiables y aplicables.</a:t>
              </a:r>
            </a:p>
          </p:txBody>
        </p:sp>
      </p:grpSp>
      <p:grpSp>
        <p:nvGrpSpPr>
          <p:cNvPr name="Group 8" id="8"/>
          <p:cNvGrpSpPr/>
          <p:nvPr/>
        </p:nvGrpSpPr>
        <p:grpSpPr>
          <a:xfrm rot="0">
            <a:off x="666750" y="666750"/>
            <a:ext cx="12639675" cy="4467225"/>
            <a:chOff x="0" y="0"/>
            <a:chExt cx="16852900" cy="5956300"/>
          </a:xfrm>
        </p:grpSpPr>
        <p:sp>
          <p:nvSpPr>
            <p:cNvPr name="TextBox 9" id="9"/>
            <p:cNvSpPr txBox="true"/>
            <p:nvPr/>
          </p:nvSpPr>
          <p:spPr>
            <a:xfrm rot="0">
              <a:off x="0" y="133350"/>
              <a:ext cx="16852900" cy="4828117"/>
            </a:xfrm>
            <a:prstGeom prst="rect">
              <a:avLst/>
            </a:prstGeom>
          </p:spPr>
          <p:txBody>
            <a:bodyPr anchor="t" rtlCol="false" tIns="0" lIns="0" bIns="0" rIns="0">
              <a:spAutoFit/>
            </a:bodyPr>
            <a:lstStyle/>
            <a:p>
              <a:pPr algn="l" marL="0" indent="0" lvl="0">
                <a:lnSpc>
                  <a:spcPts val="6999"/>
                </a:lnSpc>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"El desbalance de clases en los datos puede llevar a predicciones erróneas y decisiones ineficaces."</a:t>
              </a:r>
            </a:p>
          </p:txBody>
        </p:sp>
        <p:sp>
          <p:nvSpPr>
            <p:cNvPr name="TextBox 10" id="10"/>
            <p:cNvSpPr txBox="true"/>
            <p:nvPr/>
          </p:nvSpPr>
          <p:spPr>
            <a:xfrm rot="0">
              <a:off x="0" y="5308600"/>
              <a:ext cx="16852900" cy="647700"/>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a:solidFill>
                    <a:srgbClr val="ECF0F1"/>
                  </a:solidFill>
                  <a:latin typeface="HK Grotesk Medium"/>
                  <a:ea typeface="HK Grotesk Medium"/>
                  <a:cs typeface="HK Grotesk Medium"/>
                  <a:sym typeface="HK Grotesk Medium"/>
                </a:rPr>
                <a:t>ANÁLISIS DE DATOS</a:t>
              </a:r>
            </a:p>
          </p:txBody>
        </p:sp>
      </p:grpSp>
      <p:grpSp>
        <p:nvGrpSpPr>
          <p:cNvPr name="Group 11" id="11"/>
          <p:cNvGrpSpPr/>
          <p:nvPr/>
        </p:nvGrpSpPr>
        <p:grpSpPr>
          <a:xfrm rot="0">
            <a:off x="15493924" y="6757579"/>
            <a:ext cx="3467057" cy="4305236"/>
            <a:chOff x="0" y="0"/>
            <a:chExt cx="4622743" cy="5740315"/>
          </a:xfrm>
        </p:grpSpPr>
        <p:sp>
          <p:nvSpPr>
            <p:cNvPr name="Freeform 12" id="12"/>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8100000">
              <a:off x="-106337" y="2577879"/>
              <a:ext cx="4835418" cy="1702128"/>
              <a:chOff x="0" y="0"/>
              <a:chExt cx="954623" cy="336039"/>
            </a:xfrm>
          </p:grpSpPr>
          <p:sp>
            <p:nvSpPr>
              <p:cNvPr name="Freeform 14" id="14"/>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5" id="15"/>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12892088" y="7233241"/>
            <a:ext cx="4010025" cy="1371600"/>
            <a:chOff x="0" y="0"/>
            <a:chExt cx="5346700" cy="1828800"/>
          </a:xfrm>
        </p:grpSpPr>
        <p:sp>
          <p:nvSpPr>
            <p:cNvPr name="TextBox 3" id="3"/>
            <p:cNvSpPr txBox="true"/>
            <p:nvPr/>
          </p:nvSpPr>
          <p:spPr>
            <a:xfrm rot="0">
              <a:off x="0" y="-9525"/>
              <a:ext cx="5346700" cy="619125"/>
            </a:xfrm>
            <a:prstGeom prst="rect">
              <a:avLst/>
            </a:prstGeom>
          </p:spPr>
          <p:txBody>
            <a:bodyPr anchor="t" rtlCol="false" tIns="0" lIns="0" bIns="0" rIns="0">
              <a:spAutoFit/>
            </a:bodyPr>
            <a:lstStyle/>
            <a:p>
              <a:pPr algn="ctr"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Modelo</a:t>
              </a:r>
            </a:p>
          </p:txBody>
        </p:sp>
        <p:sp>
          <p:nvSpPr>
            <p:cNvPr name="TextBox 4" id="4"/>
            <p:cNvSpPr txBox="true"/>
            <p:nvPr/>
          </p:nvSpPr>
          <p:spPr>
            <a:xfrm rot="0">
              <a:off x="0" y="863600"/>
              <a:ext cx="5346700" cy="965200"/>
            </a:xfrm>
            <a:prstGeom prst="rect">
              <a:avLst/>
            </a:prstGeom>
          </p:spPr>
          <p:txBody>
            <a:bodyPr anchor="t" rtlCol="false" tIns="0" lIns="0" bIns="0" rIns="0">
              <a:spAutoFit/>
            </a:bodyPr>
            <a:lstStyle/>
            <a:p>
              <a:pPr algn="ctr" marL="0" indent="0" lvl="0">
                <a:lnSpc>
                  <a:spcPts val="2879"/>
                </a:lnSpc>
                <a:spcBef>
                  <a:spcPct val="0"/>
                </a:spcBef>
              </a:pPr>
              <a:r>
                <a:rPr lang="en-US" sz="2400">
                  <a:solidFill>
                    <a:srgbClr val="ECF0F1"/>
                  </a:solidFill>
                  <a:latin typeface="HK Grotesk"/>
                  <a:ea typeface="HK Grotesk"/>
                  <a:cs typeface="HK Grotesk"/>
                  <a:sym typeface="HK Grotesk"/>
                </a:rPr>
                <a:t>Motor predictivo de alto rendimiento y precisión.</a:t>
              </a:r>
            </a:p>
          </p:txBody>
        </p:sp>
      </p:grpSp>
      <p:grpSp>
        <p:nvGrpSpPr>
          <p:cNvPr name="Group 5" id="5"/>
          <p:cNvGrpSpPr/>
          <p:nvPr/>
        </p:nvGrpSpPr>
        <p:grpSpPr>
          <a:xfrm rot="0">
            <a:off x="7138988" y="7227883"/>
            <a:ext cx="4010025" cy="1733550"/>
            <a:chOff x="0" y="0"/>
            <a:chExt cx="5346700" cy="2311400"/>
          </a:xfrm>
        </p:grpSpPr>
        <p:sp>
          <p:nvSpPr>
            <p:cNvPr name="TextBox 6" id="6"/>
            <p:cNvSpPr txBox="true"/>
            <p:nvPr/>
          </p:nvSpPr>
          <p:spPr>
            <a:xfrm rot="0">
              <a:off x="0" y="-9525"/>
              <a:ext cx="5346700" cy="619125"/>
            </a:xfrm>
            <a:prstGeom prst="rect">
              <a:avLst/>
            </a:prstGeom>
          </p:spPr>
          <p:txBody>
            <a:bodyPr anchor="t" rtlCol="false" tIns="0" lIns="0" bIns="0" rIns="0">
              <a:spAutoFit/>
            </a:bodyPr>
            <a:lstStyle/>
            <a:p>
              <a:pPr algn="ctr"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Balanceo</a:t>
              </a:r>
            </a:p>
          </p:txBody>
        </p:sp>
        <p:sp>
          <p:nvSpPr>
            <p:cNvPr name="TextBox 7" id="7"/>
            <p:cNvSpPr txBox="true"/>
            <p:nvPr/>
          </p:nvSpPr>
          <p:spPr>
            <a:xfrm rot="0">
              <a:off x="0" y="863600"/>
              <a:ext cx="5346700" cy="1447800"/>
            </a:xfrm>
            <a:prstGeom prst="rect">
              <a:avLst/>
            </a:prstGeom>
          </p:spPr>
          <p:txBody>
            <a:bodyPr anchor="t" rtlCol="false" tIns="0" lIns="0" bIns="0" rIns="0">
              <a:spAutoFit/>
            </a:bodyPr>
            <a:lstStyle/>
            <a:p>
              <a:pPr algn="ctr" marL="0" indent="0" lvl="0">
                <a:lnSpc>
                  <a:spcPts val="2879"/>
                </a:lnSpc>
                <a:spcBef>
                  <a:spcPct val="0"/>
                </a:spcBef>
              </a:pPr>
              <a:r>
                <a:rPr lang="en-US" sz="2400">
                  <a:solidFill>
                    <a:srgbClr val="ECF0F1"/>
                  </a:solidFill>
                  <a:latin typeface="HK Grotesk"/>
                  <a:ea typeface="HK Grotesk"/>
                  <a:cs typeface="HK Grotesk"/>
                  <a:sym typeface="HK Grotesk"/>
                </a:rPr>
                <a:t>Generación de ejemplos virtuales para equilibrar datos.</a:t>
              </a:r>
            </a:p>
          </p:txBody>
        </p:sp>
      </p:grpSp>
      <p:grpSp>
        <p:nvGrpSpPr>
          <p:cNvPr name="Group 8" id="8"/>
          <p:cNvGrpSpPr/>
          <p:nvPr/>
        </p:nvGrpSpPr>
        <p:grpSpPr>
          <a:xfrm rot="0">
            <a:off x="1538288" y="7233241"/>
            <a:ext cx="4010025" cy="1371600"/>
            <a:chOff x="0" y="0"/>
            <a:chExt cx="5346700" cy="1828800"/>
          </a:xfrm>
        </p:grpSpPr>
        <p:sp>
          <p:nvSpPr>
            <p:cNvPr name="TextBox 9" id="9"/>
            <p:cNvSpPr txBox="true"/>
            <p:nvPr/>
          </p:nvSpPr>
          <p:spPr>
            <a:xfrm rot="0">
              <a:off x="0" y="-9525"/>
              <a:ext cx="5346700" cy="619125"/>
            </a:xfrm>
            <a:prstGeom prst="rect">
              <a:avLst/>
            </a:prstGeom>
          </p:spPr>
          <p:txBody>
            <a:bodyPr anchor="t" rtlCol="false" tIns="0" lIns="0" bIns="0" rIns="0">
              <a:spAutoFit/>
            </a:bodyPr>
            <a:lstStyle/>
            <a:p>
              <a:pPr algn="ctr"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Sentimiento</a:t>
              </a:r>
            </a:p>
          </p:txBody>
        </p:sp>
        <p:sp>
          <p:nvSpPr>
            <p:cNvPr name="TextBox 10" id="10"/>
            <p:cNvSpPr txBox="true"/>
            <p:nvPr/>
          </p:nvSpPr>
          <p:spPr>
            <a:xfrm rot="0">
              <a:off x="0" y="863600"/>
              <a:ext cx="5346700" cy="965200"/>
            </a:xfrm>
            <a:prstGeom prst="rect">
              <a:avLst/>
            </a:prstGeom>
          </p:spPr>
          <p:txBody>
            <a:bodyPr anchor="t" rtlCol="false" tIns="0" lIns="0" bIns="0" rIns="0">
              <a:spAutoFit/>
            </a:bodyPr>
            <a:lstStyle/>
            <a:p>
              <a:pPr algn="ctr" marL="0" indent="0" lvl="0">
                <a:lnSpc>
                  <a:spcPts val="2879"/>
                </a:lnSpc>
                <a:spcBef>
                  <a:spcPct val="0"/>
                </a:spcBef>
              </a:pPr>
              <a:r>
                <a:rPr lang="en-US" sz="2400">
                  <a:solidFill>
                    <a:srgbClr val="ECF0F1"/>
                  </a:solidFill>
                  <a:latin typeface="HK Grotesk"/>
                  <a:ea typeface="HK Grotesk"/>
                  <a:cs typeface="HK Grotesk"/>
                  <a:sym typeface="HK Grotesk"/>
                </a:rPr>
                <a:t>Análisis de reseñas para captar tono emocional.</a:t>
              </a:r>
            </a:p>
          </p:txBody>
        </p:sp>
      </p:grpSp>
      <p:sp>
        <p:nvSpPr>
          <p:cNvPr name="TextBox 11" id="11"/>
          <p:cNvSpPr txBox="true"/>
          <p:nvPr/>
        </p:nvSpPr>
        <p:spPr>
          <a:xfrm rot="0">
            <a:off x="666750" y="800100"/>
            <a:ext cx="16954500" cy="1816100"/>
          </a:xfrm>
          <a:prstGeom prst="rect">
            <a:avLst/>
          </a:prstGeom>
        </p:spPr>
        <p:txBody>
          <a:bodyPr anchor="t" rtlCol="false" tIns="0" lIns="0" bIns="0" rIns="0">
            <a:spAutoFit/>
          </a:bodyPr>
          <a:lstStyle/>
          <a:p>
            <a:pPr algn="l" marL="0" indent="0" lvl="0">
              <a:lnSpc>
                <a:spcPts val="6999"/>
              </a:lnSpc>
              <a:spcBef>
                <a:spcPct val="0"/>
              </a:spcBef>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La Solución Inteligente: Más Allá de los Números</a:t>
            </a:r>
          </a:p>
        </p:txBody>
      </p:sp>
      <p:grpSp>
        <p:nvGrpSpPr>
          <p:cNvPr name="Group 12" id="12"/>
          <p:cNvGrpSpPr/>
          <p:nvPr/>
        </p:nvGrpSpPr>
        <p:grpSpPr>
          <a:xfrm rot="0">
            <a:off x="666750" y="3352800"/>
            <a:ext cx="5448300" cy="3581400"/>
            <a:chOff x="0" y="0"/>
            <a:chExt cx="1631088" cy="1072184"/>
          </a:xfrm>
        </p:grpSpPr>
        <p:sp>
          <p:nvSpPr>
            <p:cNvPr name="Freeform 13" id="13"/>
            <p:cNvSpPr/>
            <p:nvPr/>
          </p:nvSpPr>
          <p:spPr>
            <a:xfrm flipH="false" flipV="false" rot="0">
              <a:off x="0" y="0"/>
              <a:ext cx="1631088" cy="1072184"/>
            </a:xfrm>
            <a:custGeom>
              <a:avLst/>
              <a:gdLst/>
              <a:ahLst/>
              <a:cxnLst/>
              <a:rect r="r" b="b" t="t" l="l"/>
              <a:pathLst>
                <a:path h="1072184" w="1631088">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a:blip r:embed="rId2"/>
              <a:stretch>
                <a:fillRect l="-83" t="0" r="-83" b="0"/>
              </a:stretch>
            </a:blipFill>
            <a:ln w="19050" cap="sq">
              <a:solidFill>
                <a:srgbClr val="000000"/>
              </a:solidFill>
              <a:prstDash val="solid"/>
              <a:miter/>
            </a:ln>
          </p:spPr>
        </p:sp>
      </p:grpSp>
      <p:grpSp>
        <p:nvGrpSpPr>
          <p:cNvPr name="Group 14" id="14"/>
          <p:cNvGrpSpPr/>
          <p:nvPr/>
        </p:nvGrpSpPr>
        <p:grpSpPr>
          <a:xfrm rot="0">
            <a:off x="6419850" y="3352800"/>
            <a:ext cx="5448300" cy="3581400"/>
            <a:chOff x="0" y="0"/>
            <a:chExt cx="1631088" cy="1072184"/>
          </a:xfrm>
        </p:grpSpPr>
        <p:sp>
          <p:nvSpPr>
            <p:cNvPr name="Freeform 15" id="15"/>
            <p:cNvSpPr/>
            <p:nvPr/>
          </p:nvSpPr>
          <p:spPr>
            <a:xfrm flipH="false" flipV="false" rot="0">
              <a:off x="0" y="0"/>
              <a:ext cx="1631088" cy="1072184"/>
            </a:xfrm>
            <a:custGeom>
              <a:avLst/>
              <a:gdLst/>
              <a:ahLst/>
              <a:cxnLst/>
              <a:rect r="r" b="b" t="t" l="l"/>
              <a:pathLst>
                <a:path h="1072184" w="1631088">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a:blip r:embed="rId3"/>
              <a:stretch>
                <a:fillRect l="-83" t="0" r="-83" b="0"/>
              </a:stretch>
            </a:blipFill>
            <a:ln w="19050" cap="sq">
              <a:solidFill>
                <a:srgbClr val="000000"/>
              </a:solidFill>
              <a:prstDash val="solid"/>
              <a:miter/>
            </a:ln>
          </p:spPr>
        </p:sp>
      </p:grpSp>
      <p:grpSp>
        <p:nvGrpSpPr>
          <p:cNvPr name="Group 16" id="16"/>
          <p:cNvGrpSpPr/>
          <p:nvPr/>
        </p:nvGrpSpPr>
        <p:grpSpPr>
          <a:xfrm rot="0">
            <a:off x="12172950" y="3352800"/>
            <a:ext cx="5448300" cy="3581400"/>
            <a:chOff x="0" y="0"/>
            <a:chExt cx="1631088" cy="1072184"/>
          </a:xfrm>
        </p:grpSpPr>
        <p:sp>
          <p:nvSpPr>
            <p:cNvPr name="Freeform 17" id="17"/>
            <p:cNvSpPr/>
            <p:nvPr/>
          </p:nvSpPr>
          <p:spPr>
            <a:xfrm flipH="false" flipV="false" rot="0">
              <a:off x="0" y="0"/>
              <a:ext cx="1631088" cy="1072184"/>
            </a:xfrm>
            <a:custGeom>
              <a:avLst/>
              <a:gdLst/>
              <a:ahLst/>
              <a:cxnLst/>
              <a:rect r="r" b="b" t="t" l="l"/>
              <a:pathLst>
                <a:path h="1072184" w="1631088">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a:blip r:embed="rId4"/>
              <a:stretch>
                <a:fillRect l="-83" t="0" r="-83" b="0"/>
              </a:stretch>
            </a:blipFill>
            <a:ln w="19050" cap="sq">
              <a:solidFill>
                <a:srgbClr val="000000"/>
              </a:solid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TextBox 2" id="2"/>
          <p:cNvSpPr txBox="true"/>
          <p:nvPr/>
        </p:nvSpPr>
        <p:spPr>
          <a:xfrm rot="0">
            <a:off x="666750" y="800100"/>
            <a:ext cx="14077950" cy="930275"/>
          </a:xfrm>
          <a:prstGeom prst="rect">
            <a:avLst/>
          </a:prstGeom>
        </p:spPr>
        <p:txBody>
          <a:bodyPr anchor="t" rtlCol="false" tIns="0" lIns="0" bIns="0" rIns="0">
            <a:spAutoFit/>
          </a:bodyPr>
          <a:lstStyle/>
          <a:p>
            <a:pPr algn="l" marL="0" indent="0" lvl="0">
              <a:lnSpc>
                <a:spcPts val="6999"/>
              </a:lnSpc>
            </a:pPr>
            <a:r>
              <a:rPr lang="en-US" b="true" sz="6999">
                <a:solidFill>
                  <a:srgbClr val="ECF0F1"/>
                </a:solidFill>
                <a:latin typeface="Bricolage Grotesque Bold"/>
                <a:ea typeface="Bricolage Grotesque Bold"/>
                <a:cs typeface="Bricolage Grotesque Bold"/>
                <a:sym typeface="Bricolage Grotesque Bold"/>
              </a:rPr>
              <a:t>Claves del Sistema Predictivo</a:t>
            </a:r>
          </a:p>
        </p:txBody>
      </p:sp>
      <p:grpSp>
        <p:nvGrpSpPr>
          <p:cNvPr name="Group 3" id="3"/>
          <p:cNvGrpSpPr/>
          <p:nvPr/>
        </p:nvGrpSpPr>
        <p:grpSpPr>
          <a:xfrm rot="0">
            <a:off x="666750" y="5706675"/>
            <a:ext cx="5448300" cy="1872615"/>
            <a:chOff x="0" y="0"/>
            <a:chExt cx="7264400" cy="2496820"/>
          </a:xfrm>
        </p:grpSpPr>
        <p:sp>
          <p:nvSpPr>
            <p:cNvPr name="TextBox 4" id="4"/>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Ingeniería de Sentimiento</a:t>
              </a:r>
            </a:p>
          </p:txBody>
        </p:sp>
        <p:sp>
          <p:nvSpPr>
            <p:cNvPr name="TextBox 5" id="5"/>
            <p:cNvSpPr txBox="true"/>
            <p:nvPr/>
          </p:nvSpPr>
          <p:spPr>
            <a:xfrm rot="0">
              <a:off x="0" y="854075"/>
              <a:ext cx="7264400" cy="164274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CF0F1"/>
                  </a:solidFill>
                  <a:latin typeface="HK Grotesk"/>
                  <a:ea typeface="HK Grotesk"/>
                  <a:cs typeface="HK Grotesk"/>
                  <a:sym typeface="HK Grotesk"/>
                </a:rPr>
                <a:t>Esta técnica analiza miles de </a:t>
              </a:r>
              <a:r>
                <a:rPr lang="en-US" b="true" sz="2400">
                  <a:solidFill>
                    <a:srgbClr val="ECF0F1"/>
                  </a:solidFill>
                  <a:latin typeface="HK Grotesk Bold"/>
                  <a:ea typeface="HK Grotesk Bold"/>
                  <a:cs typeface="HK Grotesk Bold"/>
                  <a:sym typeface="HK Grotesk Bold"/>
                </a:rPr>
                <a:t>reseñas</a:t>
              </a:r>
              <a:r>
                <a:rPr lang="en-US" sz="2400">
                  <a:solidFill>
                    <a:srgbClr val="ECF0F1"/>
                  </a:solidFill>
                  <a:latin typeface="HK Grotesk"/>
                  <a:ea typeface="HK Grotesk"/>
                  <a:cs typeface="HK Grotesk"/>
                  <a:sym typeface="HK Grotesk"/>
                </a:rPr>
                <a:t> para captar el tono emocional y la percepción del usuario.</a:t>
              </a:r>
            </a:p>
          </p:txBody>
        </p:sp>
      </p:grpSp>
      <p:grpSp>
        <p:nvGrpSpPr>
          <p:cNvPr name="Group 6" id="6"/>
          <p:cNvGrpSpPr/>
          <p:nvPr/>
        </p:nvGrpSpPr>
        <p:grpSpPr>
          <a:xfrm rot="0">
            <a:off x="6420661" y="5706675"/>
            <a:ext cx="5448300" cy="1872615"/>
            <a:chOff x="0" y="0"/>
            <a:chExt cx="7264400" cy="2496820"/>
          </a:xfrm>
        </p:grpSpPr>
        <p:sp>
          <p:nvSpPr>
            <p:cNvPr name="TextBox 7" id="7"/>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Balanceo de Clases</a:t>
              </a:r>
            </a:p>
          </p:txBody>
        </p:sp>
        <p:sp>
          <p:nvSpPr>
            <p:cNvPr name="TextBox 8" id="8"/>
            <p:cNvSpPr txBox="true"/>
            <p:nvPr/>
          </p:nvSpPr>
          <p:spPr>
            <a:xfrm rot="0">
              <a:off x="0" y="854075"/>
              <a:ext cx="7264400" cy="1642745"/>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ECF0F1"/>
                  </a:solidFill>
                  <a:latin typeface="HK Grotesk"/>
                  <a:ea typeface="HK Grotesk"/>
                  <a:cs typeface="HK Grotesk"/>
                  <a:sym typeface="HK Grotesk"/>
                </a:rPr>
                <a:t>Utilizando SMOTE, generamos ejemplos virtuales que equilibran los </a:t>
              </a:r>
              <a:r>
                <a:rPr lang="en-US" b="true" sz="2400" strike="noStrike" u="none">
                  <a:solidFill>
                    <a:srgbClr val="ECF0F1"/>
                  </a:solidFill>
                  <a:latin typeface="HK Grotesk Bold"/>
                  <a:ea typeface="HK Grotesk Bold"/>
                  <a:cs typeface="HK Grotesk Bold"/>
                  <a:sym typeface="HK Grotesk Bold"/>
                </a:rPr>
                <a:t>datos</a:t>
              </a:r>
              <a:r>
                <a:rPr lang="en-US" sz="2400" strike="noStrike" u="none">
                  <a:solidFill>
                    <a:srgbClr val="ECF0F1"/>
                  </a:solidFill>
                  <a:latin typeface="HK Grotesk"/>
                  <a:ea typeface="HK Grotesk"/>
                  <a:cs typeface="HK Grotesk"/>
                  <a:sym typeface="HK Grotesk"/>
                </a:rPr>
                <a:t> y mejoran el rendimiento del modelo.</a:t>
              </a:r>
            </a:p>
          </p:txBody>
        </p:sp>
      </p:grpSp>
      <p:grpSp>
        <p:nvGrpSpPr>
          <p:cNvPr name="Group 9" id="9"/>
          <p:cNvGrpSpPr/>
          <p:nvPr/>
        </p:nvGrpSpPr>
        <p:grpSpPr>
          <a:xfrm rot="0">
            <a:off x="12172950" y="5706675"/>
            <a:ext cx="5448300" cy="1872615"/>
            <a:chOff x="0" y="0"/>
            <a:chExt cx="7264400" cy="2496820"/>
          </a:xfrm>
        </p:grpSpPr>
        <p:sp>
          <p:nvSpPr>
            <p:cNvPr name="TextBox 10" id="10"/>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Modelo Avanzado</a:t>
              </a:r>
            </a:p>
          </p:txBody>
        </p:sp>
        <p:sp>
          <p:nvSpPr>
            <p:cNvPr name="TextBox 11" id="11"/>
            <p:cNvSpPr txBox="true"/>
            <p:nvPr/>
          </p:nvSpPr>
          <p:spPr>
            <a:xfrm rot="0">
              <a:off x="0" y="854075"/>
              <a:ext cx="7264400" cy="1642745"/>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ECF0F1"/>
                  </a:solidFill>
                  <a:latin typeface="HK Grotesk"/>
                  <a:ea typeface="HK Grotesk"/>
                  <a:cs typeface="HK Grotesk"/>
                  <a:sym typeface="HK Grotesk"/>
                </a:rPr>
                <a:t>Implementamos XGBoost, un motor </a:t>
              </a:r>
              <a:r>
                <a:rPr lang="en-US" b="true" sz="2400" strike="noStrike" u="none">
                  <a:solidFill>
                    <a:srgbClr val="ECF0F1"/>
                  </a:solidFill>
                  <a:latin typeface="HK Grotesk Bold"/>
                  <a:ea typeface="HK Grotesk Bold"/>
                  <a:cs typeface="HK Grotesk Bold"/>
                  <a:sym typeface="HK Grotesk Bold"/>
                </a:rPr>
                <a:t>predictivo</a:t>
              </a:r>
              <a:r>
                <a:rPr lang="en-US" sz="2400" strike="noStrike" u="none">
                  <a:solidFill>
                    <a:srgbClr val="ECF0F1"/>
                  </a:solidFill>
                  <a:latin typeface="HK Grotesk"/>
                  <a:ea typeface="HK Grotesk"/>
                  <a:cs typeface="HK Grotesk"/>
                  <a:sym typeface="HK Grotesk"/>
                </a:rPr>
                <a:t> que ofrece alta precisión y velocidad en las recomendaciones.</a:t>
              </a:r>
            </a:p>
          </p:txBody>
        </p:sp>
      </p:grpSp>
      <p:grpSp>
        <p:nvGrpSpPr>
          <p:cNvPr name="Group 12" id="12"/>
          <p:cNvGrpSpPr/>
          <p:nvPr/>
        </p:nvGrpSpPr>
        <p:grpSpPr>
          <a:xfrm rot="0">
            <a:off x="6420661" y="2043857"/>
            <a:ext cx="4715414" cy="3099643"/>
            <a:chOff x="0" y="0"/>
            <a:chExt cx="1631088" cy="1072184"/>
          </a:xfrm>
        </p:grpSpPr>
        <p:sp>
          <p:nvSpPr>
            <p:cNvPr name="Freeform 13" id="13"/>
            <p:cNvSpPr/>
            <p:nvPr/>
          </p:nvSpPr>
          <p:spPr>
            <a:xfrm flipH="false" flipV="false" rot="0">
              <a:off x="0" y="0"/>
              <a:ext cx="1631088" cy="1072184"/>
            </a:xfrm>
            <a:custGeom>
              <a:avLst/>
              <a:gdLst/>
              <a:ahLst/>
              <a:cxnLst/>
              <a:rect r="r" b="b" t="t" l="l"/>
              <a:pathLst>
                <a:path h="1072184" w="1631088">
                  <a:moveTo>
                    <a:pt x="32837" y="0"/>
                  </a:moveTo>
                  <a:lnTo>
                    <a:pt x="1598252" y="0"/>
                  </a:lnTo>
                  <a:cubicBezTo>
                    <a:pt x="1616387" y="0"/>
                    <a:pt x="1631088" y="14701"/>
                    <a:pt x="1631088" y="32837"/>
                  </a:cubicBezTo>
                  <a:lnTo>
                    <a:pt x="1631088" y="1039347"/>
                  </a:lnTo>
                  <a:cubicBezTo>
                    <a:pt x="1631088" y="1048056"/>
                    <a:pt x="1627629" y="1056408"/>
                    <a:pt x="1621471" y="1062566"/>
                  </a:cubicBezTo>
                  <a:cubicBezTo>
                    <a:pt x="1615313" y="1068724"/>
                    <a:pt x="1606961" y="1072184"/>
                    <a:pt x="1598252" y="1072184"/>
                  </a:cubicBezTo>
                  <a:lnTo>
                    <a:pt x="32837" y="1072184"/>
                  </a:lnTo>
                  <a:cubicBezTo>
                    <a:pt x="24128" y="1072184"/>
                    <a:pt x="15776" y="1068724"/>
                    <a:pt x="9618" y="1062566"/>
                  </a:cubicBezTo>
                  <a:cubicBezTo>
                    <a:pt x="3460" y="1056408"/>
                    <a:pt x="0" y="1048056"/>
                    <a:pt x="0" y="1039347"/>
                  </a:cubicBezTo>
                  <a:lnTo>
                    <a:pt x="0" y="32837"/>
                  </a:lnTo>
                  <a:cubicBezTo>
                    <a:pt x="0" y="24128"/>
                    <a:pt x="3460" y="15776"/>
                    <a:pt x="9618" y="9618"/>
                  </a:cubicBezTo>
                  <a:cubicBezTo>
                    <a:pt x="15776" y="3460"/>
                    <a:pt x="24128" y="0"/>
                    <a:pt x="32837" y="0"/>
                  </a:cubicBezTo>
                  <a:close/>
                </a:path>
              </a:pathLst>
            </a:custGeom>
            <a:blipFill>
              <a:blip r:embed="rId2"/>
              <a:stretch>
                <a:fillRect l="-83" t="0" r="-83" b="0"/>
              </a:stretch>
            </a:blipFill>
            <a:ln w="19050" cap="sq">
              <a:solidFill>
                <a:srgbClr val="000000"/>
              </a:solidFill>
              <a:prstDash val="solid"/>
              <a:miter/>
            </a:ln>
          </p:spPr>
        </p:sp>
      </p:grpSp>
      <p:sp>
        <p:nvSpPr>
          <p:cNvPr name="Freeform 14" id="14"/>
          <p:cNvSpPr/>
          <p:nvPr/>
        </p:nvSpPr>
        <p:spPr>
          <a:xfrm flipH="false" flipV="false" rot="0">
            <a:off x="6419850" y="4248150"/>
            <a:ext cx="1058896" cy="361950"/>
          </a:xfrm>
          <a:custGeom>
            <a:avLst/>
            <a:gdLst/>
            <a:ahLst/>
            <a:cxnLst/>
            <a:rect r="r" b="b" t="t" l="l"/>
            <a:pathLst>
              <a:path h="361950" w="1058896">
                <a:moveTo>
                  <a:pt x="0" y="0"/>
                </a:moveTo>
                <a:lnTo>
                  <a:pt x="1058896" y="0"/>
                </a:lnTo>
                <a:lnTo>
                  <a:pt x="1058896" y="361950"/>
                </a:lnTo>
                <a:lnTo>
                  <a:pt x="0" y="3619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2174571" y="2043857"/>
            <a:ext cx="4714448" cy="3099008"/>
            <a:chOff x="0" y="0"/>
            <a:chExt cx="1631088" cy="1072184"/>
          </a:xfrm>
        </p:grpSpPr>
        <p:sp>
          <p:nvSpPr>
            <p:cNvPr name="Freeform 16" id="16"/>
            <p:cNvSpPr/>
            <p:nvPr/>
          </p:nvSpPr>
          <p:spPr>
            <a:xfrm flipH="false" flipV="false" rot="0">
              <a:off x="0" y="0"/>
              <a:ext cx="1631088" cy="1072184"/>
            </a:xfrm>
            <a:custGeom>
              <a:avLst/>
              <a:gdLst/>
              <a:ahLst/>
              <a:cxnLst/>
              <a:rect r="r" b="b" t="t" l="l"/>
              <a:pathLst>
                <a:path h="1072184" w="1631088">
                  <a:moveTo>
                    <a:pt x="32843" y="0"/>
                  </a:moveTo>
                  <a:lnTo>
                    <a:pt x="1598245" y="0"/>
                  </a:lnTo>
                  <a:cubicBezTo>
                    <a:pt x="1616384" y="0"/>
                    <a:pt x="1631088" y="14704"/>
                    <a:pt x="1631088" y="32843"/>
                  </a:cubicBezTo>
                  <a:lnTo>
                    <a:pt x="1631088" y="1039341"/>
                  </a:lnTo>
                  <a:cubicBezTo>
                    <a:pt x="1631088" y="1048051"/>
                    <a:pt x="1627628" y="1056405"/>
                    <a:pt x="1621469" y="1062565"/>
                  </a:cubicBezTo>
                  <a:cubicBezTo>
                    <a:pt x="1615310" y="1068724"/>
                    <a:pt x="1606956" y="1072184"/>
                    <a:pt x="1598245" y="1072184"/>
                  </a:cubicBezTo>
                  <a:lnTo>
                    <a:pt x="32843" y="1072184"/>
                  </a:lnTo>
                  <a:cubicBezTo>
                    <a:pt x="24133" y="1072184"/>
                    <a:pt x="15779" y="1068724"/>
                    <a:pt x="9620" y="1062565"/>
                  </a:cubicBezTo>
                  <a:cubicBezTo>
                    <a:pt x="3460" y="1056405"/>
                    <a:pt x="0" y="1048051"/>
                    <a:pt x="0" y="1039341"/>
                  </a:cubicBezTo>
                  <a:lnTo>
                    <a:pt x="0" y="32843"/>
                  </a:lnTo>
                  <a:cubicBezTo>
                    <a:pt x="0" y="24133"/>
                    <a:pt x="3460" y="15779"/>
                    <a:pt x="9620" y="9620"/>
                  </a:cubicBezTo>
                  <a:cubicBezTo>
                    <a:pt x="15779" y="3460"/>
                    <a:pt x="24133" y="0"/>
                    <a:pt x="32843" y="0"/>
                  </a:cubicBezTo>
                  <a:close/>
                </a:path>
              </a:pathLst>
            </a:custGeom>
            <a:blipFill>
              <a:blip r:embed="rId5"/>
              <a:stretch>
                <a:fillRect l="-83" t="0" r="-83" b="0"/>
              </a:stretch>
            </a:blipFill>
            <a:ln w="19050" cap="sq">
              <a:solidFill>
                <a:srgbClr val="000000"/>
              </a:solidFill>
              <a:prstDash val="solid"/>
              <a:miter/>
            </a:ln>
          </p:spPr>
        </p:sp>
      </p:grpSp>
      <p:grpSp>
        <p:nvGrpSpPr>
          <p:cNvPr name="Group 17" id="17"/>
          <p:cNvGrpSpPr/>
          <p:nvPr/>
        </p:nvGrpSpPr>
        <p:grpSpPr>
          <a:xfrm rot="0">
            <a:off x="15557618" y="-952436"/>
            <a:ext cx="3467057" cy="4305236"/>
            <a:chOff x="0" y="0"/>
            <a:chExt cx="4622743" cy="5740315"/>
          </a:xfrm>
        </p:grpSpPr>
        <p:sp>
          <p:nvSpPr>
            <p:cNvPr name="Freeform 18" id="18"/>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8100000">
              <a:off x="-106337" y="2577879"/>
              <a:ext cx="4835418" cy="1702128"/>
              <a:chOff x="0" y="0"/>
              <a:chExt cx="954623" cy="336039"/>
            </a:xfrm>
          </p:grpSpPr>
          <p:sp>
            <p:nvSpPr>
              <p:cNvPr name="Freeform 20" id="20"/>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21" id="21"/>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
        <p:nvSpPr>
          <p:cNvPr name="Freeform 22" id="22"/>
          <p:cNvSpPr/>
          <p:nvPr/>
        </p:nvSpPr>
        <p:spPr>
          <a:xfrm flipH="false" flipV="false" rot="0">
            <a:off x="12174571" y="4248150"/>
            <a:ext cx="1058896" cy="361950"/>
          </a:xfrm>
          <a:custGeom>
            <a:avLst/>
            <a:gdLst/>
            <a:ahLst/>
            <a:cxnLst/>
            <a:rect r="r" b="b" t="t" l="l"/>
            <a:pathLst>
              <a:path h="361950" w="1058896">
                <a:moveTo>
                  <a:pt x="0" y="0"/>
                </a:moveTo>
                <a:lnTo>
                  <a:pt x="1058897" y="0"/>
                </a:lnTo>
                <a:lnTo>
                  <a:pt x="1058897" y="361950"/>
                </a:lnTo>
                <a:lnTo>
                  <a:pt x="0" y="3619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0">
            <a:off x="666750" y="2043857"/>
            <a:ext cx="4715414" cy="3099643"/>
            <a:chOff x="0" y="0"/>
            <a:chExt cx="1631088" cy="1072184"/>
          </a:xfrm>
        </p:grpSpPr>
        <p:sp>
          <p:nvSpPr>
            <p:cNvPr name="Freeform 24" id="24"/>
            <p:cNvSpPr/>
            <p:nvPr/>
          </p:nvSpPr>
          <p:spPr>
            <a:xfrm flipH="false" flipV="false" rot="0">
              <a:off x="0" y="0"/>
              <a:ext cx="1631088" cy="1072184"/>
            </a:xfrm>
            <a:custGeom>
              <a:avLst/>
              <a:gdLst/>
              <a:ahLst/>
              <a:cxnLst/>
              <a:rect r="r" b="b" t="t" l="l"/>
              <a:pathLst>
                <a:path h="1072184" w="1631088">
                  <a:moveTo>
                    <a:pt x="32837" y="0"/>
                  </a:moveTo>
                  <a:lnTo>
                    <a:pt x="1598252" y="0"/>
                  </a:lnTo>
                  <a:cubicBezTo>
                    <a:pt x="1616387" y="0"/>
                    <a:pt x="1631088" y="14701"/>
                    <a:pt x="1631088" y="32837"/>
                  </a:cubicBezTo>
                  <a:lnTo>
                    <a:pt x="1631088" y="1039347"/>
                  </a:lnTo>
                  <a:cubicBezTo>
                    <a:pt x="1631088" y="1048056"/>
                    <a:pt x="1627629" y="1056408"/>
                    <a:pt x="1621471" y="1062566"/>
                  </a:cubicBezTo>
                  <a:cubicBezTo>
                    <a:pt x="1615313" y="1068724"/>
                    <a:pt x="1606961" y="1072184"/>
                    <a:pt x="1598252" y="1072184"/>
                  </a:cubicBezTo>
                  <a:lnTo>
                    <a:pt x="32837" y="1072184"/>
                  </a:lnTo>
                  <a:cubicBezTo>
                    <a:pt x="24128" y="1072184"/>
                    <a:pt x="15776" y="1068724"/>
                    <a:pt x="9618" y="1062566"/>
                  </a:cubicBezTo>
                  <a:cubicBezTo>
                    <a:pt x="3460" y="1056408"/>
                    <a:pt x="0" y="1048056"/>
                    <a:pt x="0" y="1039347"/>
                  </a:cubicBezTo>
                  <a:lnTo>
                    <a:pt x="0" y="32837"/>
                  </a:lnTo>
                  <a:cubicBezTo>
                    <a:pt x="0" y="24128"/>
                    <a:pt x="3460" y="15776"/>
                    <a:pt x="9618" y="9618"/>
                  </a:cubicBezTo>
                  <a:cubicBezTo>
                    <a:pt x="15776" y="3460"/>
                    <a:pt x="24128" y="0"/>
                    <a:pt x="32837" y="0"/>
                  </a:cubicBezTo>
                  <a:close/>
                </a:path>
              </a:pathLst>
            </a:custGeom>
            <a:blipFill>
              <a:blip r:embed="rId6"/>
              <a:stretch>
                <a:fillRect l="-83" t="0" r="-83" b="0"/>
              </a:stretch>
            </a:blipFill>
            <a:ln w="19050" cap="sq">
              <a:solidFill>
                <a:srgbClr val="000000"/>
              </a:solidFill>
              <a:prstDash val="solid"/>
              <a:miter/>
            </a:ln>
          </p:spPr>
        </p:sp>
      </p:grpSp>
      <p:sp>
        <p:nvSpPr>
          <p:cNvPr name="Freeform 25" id="25"/>
          <p:cNvSpPr/>
          <p:nvPr/>
        </p:nvSpPr>
        <p:spPr>
          <a:xfrm flipH="false" flipV="false" rot="0">
            <a:off x="666750" y="4248150"/>
            <a:ext cx="1058896" cy="361950"/>
          </a:xfrm>
          <a:custGeom>
            <a:avLst/>
            <a:gdLst/>
            <a:ahLst/>
            <a:cxnLst/>
            <a:rect r="r" b="b" t="t" l="l"/>
            <a:pathLst>
              <a:path h="361950" w="1058896">
                <a:moveTo>
                  <a:pt x="0" y="0"/>
                </a:moveTo>
                <a:lnTo>
                  <a:pt x="1058896" y="0"/>
                </a:lnTo>
                <a:lnTo>
                  <a:pt x="1058896" y="361950"/>
                </a:lnTo>
                <a:lnTo>
                  <a:pt x="0" y="3619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TextBox 2" id="2"/>
          <p:cNvSpPr txBox="true"/>
          <p:nvPr/>
        </p:nvSpPr>
        <p:spPr>
          <a:xfrm rot="0">
            <a:off x="9296400" y="800100"/>
            <a:ext cx="6866887" cy="1816100"/>
          </a:xfrm>
          <a:prstGeom prst="rect">
            <a:avLst/>
          </a:prstGeom>
        </p:spPr>
        <p:txBody>
          <a:bodyPr anchor="t" rtlCol="false" tIns="0" lIns="0" bIns="0" rIns="0">
            <a:spAutoFit/>
          </a:bodyPr>
          <a:lstStyle/>
          <a:p>
            <a:pPr algn="l" marL="0" indent="0" lvl="0">
              <a:lnSpc>
                <a:spcPts val="6999"/>
              </a:lnSpc>
              <a:spcBef>
                <a:spcPct val="0"/>
              </a:spcBef>
            </a:pPr>
            <a:r>
              <a:rPr lang="en-US" b="true" sz="6999" strike="noStrike" u="none">
                <a:solidFill>
                  <a:srgbClr val="ECF0F1"/>
                </a:solidFill>
                <a:latin typeface="Bricolage Grotesque Bold"/>
                <a:ea typeface="Bricolage Grotesque Bold"/>
                <a:cs typeface="Bricolage Grotesque Bold"/>
                <a:sym typeface="Bricolage Grotesque Bold"/>
              </a:rPr>
              <a:t>Técnicas de Optimización</a:t>
            </a:r>
          </a:p>
        </p:txBody>
      </p:sp>
      <p:grpSp>
        <p:nvGrpSpPr>
          <p:cNvPr name="Group 3" id="3"/>
          <p:cNvGrpSpPr/>
          <p:nvPr/>
        </p:nvGrpSpPr>
        <p:grpSpPr>
          <a:xfrm rot="0">
            <a:off x="9385122" y="3730606"/>
            <a:ext cx="5448300" cy="911024"/>
            <a:chOff x="0" y="0"/>
            <a:chExt cx="7264400" cy="1214699"/>
          </a:xfrm>
        </p:grpSpPr>
        <p:sp>
          <p:nvSpPr>
            <p:cNvPr name="TextBox 4" id="4"/>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Ingeniería de Sentimiento</a:t>
              </a:r>
            </a:p>
          </p:txBody>
        </p:sp>
        <p:sp>
          <p:nvSpPr>
            <p:cNvPr name="TextBox 5" id="5"/>
            <p:cNvSpPr txBox="true"/>
            <p:nvPr/>
          </p:nvSpPr>
          <p:spPr>
            <a:xfrm rot="0">
              <a:off x="0" y="7320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Análisis de reseñas emocionantes</a:t>
              </a:r>
            </a:p>
          </p:txBody>
        </p:sp>
      </p:grpSp>
      <p:grpSp>
        <p:nvGrpSpPr>
          <p:cNvPr name="Group 6" id="6"/>
          <p:cNvGrpSpPr/>
          <p:nvPr/>
        </p:nvGrpSpPr>
        <p:grpSpPr>
          <a:xfrm rot="0">
            <a:off x="9385122" y="5756055"/>
            <a:ext cx="5448300" cy="911024"/>
            <a:chOff x="0" y="0"/>
            <a:chExt cx="7264400" cy="1214699"/>
          </a:xfrm>
        </p:grpSpPr>
        <p:sp>
          <p:nvSpPr>
            <p:cNvPr name="TextBox 7" id="7"/>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Balanceo de Clases (SMOTE)</a:t>
              </a:r>
            </a:p>
          </p:txBody>
        </p:sp>
        <p:sp>
          <p:nvSpPr>
            <p:cNvPr name="TextBox 8" id="8"/>
            <p:cNvSpPr txBox="true"/>
            <p:nvPr/>
          </p:nvSpPr>
          <p:spPr>
            <a:xfrm rot="0">
              <a:off x="0" y="7320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Generación de datos virtuales</a:t>
              </a:r>
            </a:p>
          </p:txBody>
        </p:sp>
      </p:grpSp>
      <p:grpSp>
        <p:nvGrpSpPr>
          <p:cNvPr name="Group 9" id="9"/>
          <p:cNvGrpSpPr/>
          <p:nvPr/>
        </p:nvGrpSpPr>
        <p:grpSpPr>
          <a:xfrm rot="0">
            <a:off x="9385122" y="7666893"/>
            <a:ext cx="5448300" cy="911024"/>
            <a:chOff x="0" y="0"/>
            <a:chExt cx="7264400" cy="1214699"/>
          </a:xfrm>
        </p:grpSpPr>
        <p:sp>
          <p:nvSpPr>
            <p:cNvPr name="TextBox 10" id="10"/>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CF0F1"/>
                  </a:solidFill>
                  <a:latin typeface="Bricolage Grotesque Bold"/>
                  <a:ea typeface="Bricolage Grotesque Bold"/>
                  <a:cs typeface="Bricolage Grotesque Bold"/>
                  <a:sym typeface="Bricolage Grotesque Bold"/>
                </a:rPr>
                <a:t>Modelo Avanzado (XGBoost)</a:t>
              </a:r>
            </a:p>
          </p:txBody>
        </p:sp>
        <p:sp>
          <p:nvSpPr>
            <p:cNvPr name="TextBox 11" id="11"/>
            <p:cNvSpPr txBox="true"/>
            <p:nvPr/>
          </p:nvSpPr>
          <p:spPr>
            <a:xfrm rot="0">
              <a:off x="0" y="7320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Predicción de alto rendimiento</a:t>
              </a:r>
            </a:p>
          </p:txBody>
        </p:sp>
      </p:grpSp>
      <p:grpSp>
        <p:nvGrpSpPr>
          <p:cNvPr name="Group 12" id="12"/>
          <p:cNvGrpSpPr/>
          <p:nvPr/>
        </p:nvGrpSpPr>
        <p:grpSpPr>
          <a:xfrm rot="0">
            <a:off x="15493924" y="6934200"/>
            <a:ext cx="3467057" cy="4305236"/>
            <a:chOff x="0" y="0"/>
            <a:chExt cx="4622743" cy="5740315"/>
          </a:xfrm>
        </p:grpSpPr>
        <p:sp>
          <p:nvSpPr>
            <p:cNvPr name="Freeform 13" id="13"/>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8100000">
              <a:off x="-106337" y="2577879"/>
              <a:ext cx="4835418" cy="1702128"/>
              <a:chOff x="0" y="0"/>
              <a:chExt cx="954623" cy="336039"/>
            </a:xfrm>
          </p:grpSpPr>
          <p:sp>
            <p:nvSpPr>
              <p:cNvPr name="Freeform 15" id="15"/>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6" id="16"/>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grpSp>
        <p:nvGrpSpPr>
          <p:cNvPr name="Group 17" id="17"/>
          <p:cNvGrpSpPr/>
          <p:nvPr/>
        </p:nvGrpSpPr>
        <p:grpSpPr>
          <a:xfrm rot="0">
            <a:off x="-282408" y="-295776"/>
            <a:ext cx="9367835" cy="10878553"/>
            <a:chOff x="0" y="0"/>
            <a:chExt cx="1451323" cy="1685372"/>
          </a:xfrm>
        </p:grpSpPr>
        <p:sp>
          <p:nvSpPr>
            <p:cNvPr name="Freeform 18" id="18"/>
            <p:cNvSpPr/>
            <p:nvPr/>
          </p:nvSpPr>
          <p:spPr>
            <a:xfrm flipH="false" flipV="false" rot="0">
              <a:off x="0" y="0"/>
              <a:ext cx="1451323" cy="1685373"/>
            </a:xfrm>
            <a:custGeom>
              <a:avLst/>
              <a:gdLst/>
              <a:ahLst/>
              <a:cxnLst/>
              <a:rect r="r" b="b" t="t" l="l"/>
              <a:pathLst>
                <a:path h="1685373" w="1451323">
                  <a:moveTo>
                    <a:pt x="16529" y="0"/>
                  </a:moveTo>
                  <a:lnTo>
                    <a:pt x="1434794" y="0"/>
                  </a:lnTo>
                  <a:cubicBezTo>
                    <a:pt x="1439178" y="0"/>
                    <a:pt x="1443382" y="1741"/>
                    <a:pt x="1446482" y="4841"/>
                  </a:cubicBezTo>
                  <a:cubicBezTo>
                    <a:pt x="1449581" y="7941"/>
                    <a:pt x="1451323" y="12145"/>
                    <a:pt x="1451323" y="16529"/>
                  </a:cubicBezTo>
                  <a:lnTo>
                    <a:pt x="1451323" y="1668844"/>
                  </a:lnTo>
                  <a:cubicBezTo>
                    <a:pt x="1451323" y="1677972"/>
                    <a:pt x="1443923" y="1685373"/>
                    <a:pt x="1434794" y="1685373"/>
                  </a:cubicBezTo>
                  <a:lnTo>
                    <a:pt x="16529" y="1685373"/>
                  </a:lnTo>
                  <a:cubicBezTo>
                    <a:pt x="12145" y="1685373"/>
                    <a:pt x="7941" y="1683631"/>
                    <a:pt x="4841" y="1680531"/>
                  </a:cubicBezTo>
                  <a:cubicBezTo>
                    <a:pt x="1741" y="1677432"/>
                    <a:pt x="0" y="1673228"/>
                    <a:pt x="0" y="1668844"/>
                  </a:cubicBezTo>
                  <a:lnTo>
                    <a:pt x="0" y="16529"/>
                  </a:lnTo>
                  <a:cubicBezTo>
                    <a:pt x="0" y="7400"/>
                    <a:pt x="7400" y="0"/>
                    <a:pt x="16529" y="0"/>
                  </a:cubicBezTo>
                  <a:close/>
                </a:path>
              </a:pathLst>
            </a:custGeom>
            <a:blipFill>
              <a:blip r:embed="rId4"/>
              <a:stretch>
                <a:fillRect l="0" t="-7988" r="0" b="-7988"/>
              </a:stretch>
            </a:blipFill>
            <a:ln w="19050" cap="sq">
              <a:solidFill>
                <a:srgbClr val="000000"/>
              </a:solidFill>
              <a:prstDash val="solid"/>
              <a:miter/>
            </a:ln>
          </p:spPr>
        </p:sp>
      </p:grpSp>
      <p:sp>
        <p:nvSpPr>
          <p:cNvPr name="Freeform 19" id="19"/>
          <p:cNvSpPr/>
          <p:nvPr/>
        </p:nvSpPr>
        <p:spPr>
          <a:xfrm flipH="false" flipV="false" rot="0">
            <a:off x="0" y="1820134"/>
            <a:ext cx="9085427" cy="6167736"/>
          </a:xfrm>
          <a:custGeom>
            <a:avLst/>
            <a:gdLst/>
            <a:ahLst/>
            <a:cxnLst/>
            <a:rect r="r" b="b" t="t" l="l"/>
            <a:pathLst>
              <a:path h="6167736" w="9085427">
                <a:moveTo>
                  <a:pt x="0" y="0"/>
                </a:moveTo>
                <a:lnTo>
                  <a:pt x="9085427" y="0"/>
                </a:lnTo>
                <a:lnTo>
                  <a:pt x="9085427" y="6167736"/>
                </a:lnTo>
                <a:lnTo>
                  <a:pt x="0" y="6167736"/>
                </a:lnTo>
                <a:lnTo>
                  <a:pt x="0" y="0"/>
                </a:lnTo>
                <a:close/>
              </a:path>
            </a:pathLst>
          </a:custGeom>
          <a:blipFill>
            <a:blip r:embed="rId5"/>
            <a:stretch>
              <a:fillRect l="0" t="-557" r="-2835" b="-55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666750" y="6038850"/>
            <a:ext cx="5448300" cy="3400123"/>
            <a:chOff x="0" y="0"/>
            <a:chExt cx="7264400" cy="4533497"/>
          </a:xfrm>
        </p:grpSpPr>
        <p:sp>
          <p:nvSpPr>
            <p:cNvPr name="TextBox 3" id="3"/>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Rendimiento excepcional</a:t>
              </a:r>
            </a:p>
          </p:txBody>
        </p:sp>
        <p:sp>
          <p:nvSpPr>
            <p:cNvPr name="TextBox 4" id="4"/>
            <p:cNvSpPr txBox="true"/>
            <p:nvPr/>
          </p:nvSpPr>
          <p:spPr>
            <a:xfrm rot="0">
              <a:off x="0" y="1214352"/>
              <a:ext cx="7264400" cy="33191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XGBoost ofrece un rendimiento excepcional debido a su capacidad para manejar grandes volúmenes de datos y relaciones complejas, proporcionando predicciones precisas y fiables para aplicaciones en Google Play.</a:t>
              </a:r>
            </a:p>
          </p:txBody>
        </p:sp>
      </p:grpSp>
      <p:grpSp>
        <p:nvGrpSpPr>
          <p:cNvPr name="Group 5" id="5"/>
          <p:cNvGrpSpPr/>
          <p:nvPr/>
        </p:nvGrpSpPr>
        <p:grpSpPr>
          <a:xfrm rot="0">
            <a:off x="7858125" y="6038850"/>
            <a:ext cx="5448300" cy="3400123"/>
            <a:chOff x="0" y="0"/>
            <a:chExt cx="7264400" cy="4533497"/>
          </a:xfrm>
        </p:grpSpPr>
        <p:sp>
          <p:nvSpPr>
            <p:cNvPr name="TextBox 6" id="6"/>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Valor añadido</a:t>
              </a:r>
            </a:p>
          </p:txBody>
        </p:sp>
        <p:sp>
          <p:nvSpPr>
            <p:cNvPr name="TextBox 7" id="7"/>
            <p:cNvSpPr txBox="true"/>
            <p:nvPr/>
          </p:nvSpPr>
          <p:spPr>
            <a:xfrm rot="0">
              <a:off x="0" y="1214352"/>
              <a:ext cx="7264400" cy="33191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Este modelo no solo mejora la precisión de las predicciones, sino que también proporciona insights valiosos para la toma de decisiones estratégicas, optimizando la inversión y recursos de marketing.</a:t>
              </a:r>
            </a:p>
          </p:txBody>
        </p:sp>
      </p:grpSp>
      <p:grpSp>
        <p:nvGrpSpPr>
          <p:cNvPr name="Group 8" id="8"/>
          <p:cNvGrpSpPr/>
          <p:nvPr/>
        </p:nvGrpSpPr>
        <p:grpSpPr>
          <a:xfrm rot="0">
            <a:off x="666750" y="666750"/>
            <a:ext cx="15316118" cy="4467225"/>
            <a:chOff x="0" y="0"/>
            <a:chExt cx="20421491" cy="5956300"/>
          </a:xfrm>
        </p:grpSpPr>
        <p:sp>
          <p:nvSpPr>
            <p:cNvPr name="TextBox 9" id="9"/>
            <p:cNvSpPr txBox="true"/>
            <p:nvPr/>
          </p:nvSpPr>
          <p:spPr>
            <a:xfrm rot="0">
              <a:off x="0" y="133350"/>
              <a:ext cx="20421491" cy="4828117"/>
            </a:xfrm>
            <a:prstGeom prst="rect">
              <a:avLst/>
            </a:prstGeom>
          </p:spPr>
          <p:txBody>
            <a:bodyPr anchor="t" rtlCol="false" tIns="0" lIns="0" bIns="0" rIns="0">
              <a:spAutoFit/>
            </a:bodyPr>
            <a:lstStyle/>
            <a:p>
              <a:pPr algn="l" marL="0" indent="0" lvl="0">
                <a:lnSpc>
                  <a:spcPts val="6999"/>
                </a:lnSpc>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XGBoost optimiz</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a la</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s predic</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c</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ion</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s,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m</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jor</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an</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do</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l</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a</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 p</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r</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c</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isión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y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el re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nd</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imi</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nt</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o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n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l</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a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proye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cc</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ión d</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l</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 </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éxit</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o</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 d</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 apli</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ca</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c</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i</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o</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n</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es</a:t>
              </a:r>
              <a:r>
                <a:rPr lang="en-US" b="true" sz="6999" spc="-209" strike="noStrike" u="none">
                  <a:solidFill>
                    <a:srgbClr val="ECF0F1"/>
                  </a:solidFill>
                  <a:latin typeface="Bricolage Grotesque Semi-Bold"/>
                  <a:ea typeface="Bricolage Grotesque Semi-Bold"/>
                  <a:cs typeface="Bricolage Grotesque Semi-Bold"/>
                  <a:sym typeface="Bricolage Grotesque Semi-Bold"/>
                </a:rPr>
                <a:t>.”</a:t>
              </a:r>
            </a:p>
          </p:txBody>
        </p:sp>
        <p:sp>
          <p:nvSpPr>
            <p:cNvPr name="TextBox 10" id="10"/>
            <p:cNvSpPr txBox="true"/>
            <p:nvPr/>
          </p:nvSpPr>
          <p:spPr>
            <a:xfrm rot="0">
              <a:off x="0" y="5308600"/>
              <a:ext cx="20421491" cy="647700"/>
            </a:xfrm>
            <a:prstGeom prst="rect">
              <a:avLst/>
            </a:prstGeom>
          </p:spPr>
          <p:txBody>
            <a:bodyPr anchor="t" rtlCol="false" tIns="0" lIns="0" bIns="0" rIns="0">
              <a:spAutoFit/>
            </a:bodyPr>
            <a:lstStyle/>
            <a:p>
              <a:pPr algn="l" marL="0" indent="0" lvl="0">
                <a:lnSpc>
                  <a:spcPts val="3900"/>
                </a:lnSpc>
              </a:pPr>
              <a:r>
                <a:rPr lang="en-US" b="true" sz="3000">
                  <a:solidFill>
                    <a:srgbClr val="ECF0F1"/>
                  </a:solidFill>
                  <a:latin typeface="HK Grotesk Medium"/>
                  <a:ea typeface="HK Grotesk Medium"/>
                  <a:cs typeface="HK Grotesk Medium"/>
                  <a:sym typeface="HK Grotesk Medium"/>
                </a:rPr>
                <a:t>– ANÁLISIS DE DATOS</a:t>
              </a:r>
            </a:p>
          </p:txBody>
        </p:sp>
      </p:grpSp>
      <p:grpSp>
        <p:nvGrpSpPr>
          <p:cNvPr name="Group 11" id="11"/>
          <p:cNvGrpSpPr/>
          <p:nvPr/>
        </p:nvGrpSpPr>
        <p:grpSpPr>
          <a:xfrm rot="0">
            <a:off x="15493924" y="6757579"/>
            <a:ext cx="3467057" cy="4305236"/>
            <a:chOff x="0" y="0"/>
            <a:chExt cx="4622743" cy="5740315"/>
          </a:xfrm>
        </p:grpSpPr>
        <p:sp>
          <p:nvSpPr>
            <p:cNvPr name="Freeform 12" id="12"/>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8100000">
              <a:off x="-106337" y="2577879"/>
              <a:ext cx="4835418" cy="1702128"/>
              <a:chOff x="0" y="0"/>
              <a:chExt cx="954623" cy="336039"/>
            </a:xfrm>
          </p:grpSpPr>
          <p:sp>
            <p:nvSpPr>
              <p:cNvPr name="Freeform 14" id="14"/>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5" id="15"/>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Freeform 2" id="2"/>
          <p:cNvSpPr/>
          <p:nvPr/>
        </p:nvSpPr>
        <p:spPr>
          <a:xfrm flipH="false" flipV="false" rot="0">
            <a:off x="1855365" y="4370105"/>
            <a:ext cx="13792190" cy="5661932"/>
          </a:xfrm>
          <a:custGeom>
            <a:avLst/>
            <a:gdLst/>
            <a:ahLst/>
            <a:cxnLst/>
            <a:rect r="r" b="b" t="t" l="l"/>
            <a:pathLst>
              <a:path h="5661932" w="13792190">
                <a:moveTo>
                  <a:pt x="0" y="0"/>
                </a:moveTo>
                <a:lnTo>
                  <a:pt x="13792190" y="0"/>
                </a:lnTo>
                <a:lnTo>
                  <a:pt x="13792190" y="5661932"/>
                </a:lnTo>
                <a:lnTo>
                  <a:pt x="0" y="5661932"/>
                </a:lnTo>
                <a:lnTo>
                  <a:pt x="0" y="0"/>
                </a:lnTo>
                <a:close/>
              </a:path>
            </a:pathLst>
          </a:custGeom>
          <a:blipFill>
            <a:blip r:embed="rId2"/>
            <a:stretch>
              <a:fillRect l="0" t="-850" r="0" b="-850"/>
            </a:stretch>
          </a:blipFill>
        </p:spPr>
      </p:sp>
      <p:grpSp>
        <p:nvGrpSpPr>
          <p:cNvPr name="Group 3" id="3"/>
          <p:cNvGrpSpPr/>
          <p:nvPr/>
        </p:nvGrpSpPr>
        <p:grpSpPr>
          <a:xfrm rot="0">
            <a:off x="14575952" y="7105682"/>
            <a:ext cx="3467057" cy="4305236"/>
            <a:chOff x="0" y="0"/>
            <a:chExt cx="4622743" cy="5740315"/>
          </a:xfrm>
        </p:grpSpPr>
        <p:sp>
          <p:nvSpPr>
            <p:cNvPr name="Freeform 4" id="4"/>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8100000">
              <a:off x="-106337" y="2577879"/>
              <a:ext cx="4835418" cy="1702128"/>
              <a:chOff x="0" y="0"/>
              <a:chExt cx="954623" cy="336039"/>
            </a:xfrm>
          </p:grpSpPr>
          <p:sp>
            <p:nvSpPr>
              <p:cNvPr name="Freeform 6" id="6"/>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7" id="7"/>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
        <p:nvSpPr>
          <p:cNvPr name="TextBox 8" id="8"/>
          <p:cNvSpPr txBox="true"/>
          <p:nvPr/>
        </p:nvSpPr>
        <p:spPr>
          <a:xfrm rot="0">
            <a:off x="666750" y="553983"/>
            <a:ext cx="11918085" cy="1742757"/>
          </a:xfrm>
          <a:prstGeom prst="rect">
            <a:avLst/>
          </a:prstGeom>
        </p:spPr>
        <p:txBody>
          <a:bodyPr anchor="t" rtlCol="false" tIns="0" lIns="0" bIns="0" rIns="0">
            <a:spAutoFit/>
          </a:bodyPr>
          <a:lstStyle/>
          <a:p>
            <a:pPr algn="l" marL="0" indent="0" lvl="0">
              <a:lnSpc>
                <a:spcPts val="6737"/>
              </a:lnSpc>
              <a:spcBef>
                <a:spcPct val="0"/>
              </a:spcBef>
            </a:pPr>
            <a:r>
              <a:rPr lang="en-US" b="true" sz="6737" spc="-202" strike="noStrike" u="none">
                <a:solidFill>
                  <a:srgbClr val="ECF0F1"/>
                </a:solidFill>
                <a:latin typeface="Bricolage Grotesque Semi-Bold"/>
                <a:ea typeface="Bricolage Grotesque Semi-Bold"/>
                <a:cs typeface="Bricolage Grotesque Semi-Bold"/>
                <a:sym typeface="Bricolage Grotesque Semi-Bold"/>
              </a:rPr>
              <a:t>El Resultado: Un Predictor de Alto Valor</a:t>
            </a:r>
          </a:p>
        </p:txBody>
      </p:sp>
      <p:sp>
        <p:nvSpPr>
          <p:cNvPr name="TextBox 9" id="9"/>
          <p:cNvSpPr txBox="true"/>
          <p:nvPr/>
        </p:nvSpPr>
        <p:spPr>
          <a:xfrm rot="0">
            <a:off x="666750" y="3303305"/>
            <a:ext cx="14727611" cy="7239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El sistema ha alcanzado una </a:t>
            </a:r>
            <a:r>
              <a:rPr lang="en-US" b="true" sz="2400" strike="noStrike" u="none">
                <a:solidFill>
                  <a:srgbClr val="ECF0F1"/>
                </a:solidFill>
                <a:latin typeface="HK Grotesk Bold"/>
                <a:ea typeface="HK Grotesk Bold"/>
                <a:cs typeface="HK Grotesk Bold"/>
                <a:sym typeface="HK Grotesk Bold"/>
              </a:rPr>
              <a:t>precisión del 78%</a:t>
            </a:r>
            <a:r>
              <a:rPr lang="en-US" sz="2400" strike="noStrike" u="none">
                <a:solidFill>
                  <a:srgbClr val="ECF0F1"/>
                </a:solidFill>
                <a:latin typeface="HK Grotesk"/>
                <a:ea typeface="HK Grotesk"/>
                <a:cs typeface="HK Grotesk"/>
                <a:sym typeface="HK Grotesk"/>
              </a:rPr>
              <a:t> en la predicción de apps populares, proporcionando una herramienta eficaz para la toma de decisiones estratégicas en el desarrollo y marketing.</a:t>
            </a:r>
          </a:p>
        </p:txBody>
      </p:sp>
      <p:sp>
        <p:nvSpPr>
          <p:cNvPr name="TextBox 10" id="10"/>
          <p:cNvSpPr txBox="true"/>
          <p:nvPr/>
        </p:nvSpPr>
        <p:spPr>
          <a:xfrm rot="0">
            <a:off x="666750" y="2628134"/>
            <a:ext cx="8324850" cy="447675"/>
          </a:xfrm>
          <a:prstGeom prst="rect">
            <a:avLst/>
          </a:prstGeom>
        </p:spPr>
        <p:txBody>
          <a:bodyPr anchor="t" rtlCol="false" tIns="0" lIns="0" bIns="0" rIns="0">
            <a:spAutoFit/>
          </a:bodyPr>
          <a:lstStyle/>
          <a:p>
            <a:pPr algn="l" marL="0" indent="0" lvl="0">
              <a:lnSpc>
                <a:spcPts val="3465"/>
              </a:lnSpc>
              <a:spcBef>
                <a:spcPct val="0"/>
              </a:spcBef>
            </a:pPr>
            <a:r>
              <a:rPr lang="en-US" b="true" sz="2887" strike="noStrike" u="none">
                <a:solidFill>
                  <a:srgbClr val="ECF0F1"/>
                </a:solidFill>
                <a:latin typeface="Bricolage Grotesque Bold"/>
                <a:ea typeface="Bricolage Grotesque Bold"/>
                <a:cs typeface="Bricolage Grotesque Bold"/>
                <a:sym typeface="Bricolage Grotesque Bold"/>
              </a:rPr>
              <a:t>Desempeño y beneficios del modelo predictivo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TextBox 2" id="2"/>
          <p:cNvSpPr txBox="true"/>
          <p:nvPr/>
        </p:nvSpPr>
        <p:spPr>
          <a:xfrm rot="0">
            <a:off x="9296400" y="800100"/>
            <a:ext cx="6866887" cy="2701925"/>
          </a:xfrm>
          <a:prstGeom prst="rect">
            <a:avLst/>
          </a:prstGeom>
        </p:spPr>
        <p:txBody>
          <a:bodyPr anchor="t" rtlCol="false" tIns="0" lIns="0" bIns="0" rIns="0">
            <a:spAutoFit/>
          </a:bodyPr>
          <a:lstStyle/>
          <a:p>
            <a:pPr algn="l" marL="0" indent="0" lvl="0">
              <a:lnSpc>
                <a:spcPts val="6999"/>
              </a:lnSpc>
              <a:spcBef>
                <a:spcPct val="0"/>
              </a:spcBef>
            </a:pPr>
            <a:r>
              <a:rPr lang="en-US" b="true" sz="6999" strike="noStrike" u="none">
                <a:solidFill>
                  <a:srgbClr val="ECF0F1"/>
                </a:solidFill>
                <a:latin typeface="Bricolage Grotesque Bold"/>
                <a:ea typeface="Bricolage Grotesque Bold"/>
                <a:cs typeface="Bricolage Grotesque Bold"/>
                <a:sym typeface="Bricolage Grotesque Bold"/>
              </a:rPr>
              <a:t>Precisión del Modelo Predictivo</a:t>
            </a:r>
          </a:p>
        </p:txBody>
      </p:sp>
      <p:grpSp>
        <p:nvGrpSpPr>
          <p:cNvPr name="Group 3" id="3"/>
          <p:cNvGrpSpPr/>
          <p:nvPr/>
        </p:nvGrpSpPr>
        <p:grpSpPr>
          <a:xfrm rot="0">
            <a:off x="9296400" y="4076700"/>
            <a:ext cx="5448300" cy="1253924"/>
            <a:chOff x="0" y="0"/>
            <a:chExt cx="7264400" cy="1671899"/>
          </a:xfrm>
        </p:grpSpPr>
        <p:sp>
          <p:nvSpPr>
            <p:cNvPr name="TextBox 4" id="4"/>
            <p:cNvSpPr txBox="true"/>
            <p:nvPr/>
          </p:nvSpPr>
          <p:spPr>
            <a:xfrm rot="0">
              <a:off x="0" y="0"/>
              <a:ext cx="7264400" cy="1066800"/>
            </a:xfrm>
            <a:prstGeom prst="rect">
              <a:avLst/>
            </a:prstGeom>
          </p:spPr>
          <p:txBody>
            <a:bodyPr anchor="t" rtlCol="false" tIns="0" lIns="0" bIns="0" rIns="0">
              <a:spAutoFit/>
            </a:bodyPr>
            <a:lstStyle/>
            <a:p>
              <a:pPr algn="l" marL="0" indent="0" lvl="0">
                <a:lnSpc>
                  <a:spcPts val="3189"/>
                </a:lnSpc>
                <a:spcBef>
                  <a:spcPct val="0"/>
                </a:spcBef>
              </a:pPr>
              <a:r>
                <a:rPr lang="en-US" b="true" sz="2658" strike="noStrike" u="none">
                  <a:solidFill>
                    <a:srgbClr val="ECF0F1"/>
                  </a:solidFill>
                  <a:latin typeface="Bricolage Grotesque Bold"/>
                  <a:ea typeface="Bricolage Grotesque Bold"/>
                  <a:cs typeface="Bricolage Grotesque Bold"/>
                  <a:sym typeface="Bricolage Grotesque Bold"/>
                </a:rPr>
                <a:t>Desempeño del sistema predictivo</a:t>
              </a:r>
            </a:p>
          </p:txBody>
        </p:sp>
        <p:sp>
          <p:nvSpPr>
            <p:cNvPr name="TextBox 5" id="5"/>
            <p:cNvSpPr txBox="true"/>
            <p:nvPr/>
          </p:nvSpPr>
          <p:spPr>
            <a:xfrm rot="0">
              <a:off x="0" y="11892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78% de acierto garantizado</a:t>
              </a:r>
            </a:p>
          </p:txBody>
        </p:sp>
      </p:grpSp>
      <p:grpSp>
        <p:nvGrpSpPr>
          <p:cNvPr name="Group 6" id="6"/>
          <p:cNvGrpSpPr/>
          <p:nvPr/>
        </p:nvGrpSpPr>
        <p:grpSpPr>
          <a:xfrm rot="0">
            <a:off x="9296400" y="6067425"/>
            <a:ext cx="5448300" cy="853874"/>
            <a:chOff x="0" y="0"/>
            <a:chExt cx="7264400" cy="1138499"/>
          </a:xfrm>
        </p:grpSpPr>
        <p:sp>
          <p:nvSpPr>
            <p:cNvPr name="TextBox 7" id="7"/>
            <p:cNvSpPr txBox="true"/>
            <p:nvPr/>
          </p:nvSpPr>
          <p:spPr>
            <a:xfrm rot="0">
              <a:off x="0" y="0"/>
              <a:ext cx="7264400" cy="533400"/>
            </a:xfrm>
            <a:prstGeom prst="rect">
              <a:avLst/>
            </a:prstGeom>
          </p:spPr>
          <p:txBody>
            <a:bodyPr anchor="t" rtlCol="false" tIns="0" lIns="0" bIns="0" rIns="0">
              <a:spAutoFit/>
            </a:bodyPr>
            <a:lstStyle/>
            <a:p>
              <a:pPr algn="l" marL="0" indent="0" lvl="0">
                <a:lnSpc>
                  <a:spcPts val="3189"/>
                </a:lnSpc>
                <a:spcBef>
                  <a:spcPct val="0"/>
                </a:spcBef>
              </a:pPr>
              <a:r>
                <a:rPr lang="en-US" b="true" sz="2658" strike="noStrike" u="none">
                  <a:solidFill>
                    <a:srgbClr val="ECF0F1"/>
                  </a:solidFill>
                  <a:latin typeface="Bricolage Grotesque Bold"/>
                  <a:ea typeface="Bricolage Grotesque Bold"/>
                  <a:cs typeface="Bricolage Grotesque Bold"/>
                  <a:sym typeface="Bricolage Grotesque Bold"/>
                </a:rPr>
                <a:t>Métricas de éxito importantes</a:t>
              </a:r>
            </a:p>
          </p:txBody>
        </p:sp>
        <p:sp>
          <p:nvSpPr>
            <p:cNvPr name="TextBox 8" id="8"/>
            <p:cNvSpPr txBox="true"/>
            <p:nvPr/>
          </p:nvSpPr>
          <p:spPr>
            <a:xfrm rot="0">
              <a:off x="0" y="6558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Recall identifica apps exitosas</a:t>
              </a:r>
            </a:p>
          </p:txBody>
        </p:sp>
      </p:grpSp>
      <p:grpSp>
        <p:nvGrpSpPr>
          <p:cNvPr name="Group 9" id="9"/>
          <p:cNvGrpSpPr/>
          <p:nvPr/>
        </p:nvGrpSpPr>
        <p:grpSpPr>
          <a:xfrm rot="0">
            <a:off x="9296400" y="7658100"/>
            <a:ext cx="5448300" cy="1253924"/>
            <a:chOff x="0" y="0"/>
            <a:chExt cx="7264400" cy="1671899"/>
          </a:xfrm>
        </p:grpSpPr>
        <p:sp>
          <p:nvSpPr>
            <p:cNvPr name="TextBox 10" id="10"/>
            <p:cNvSpPr txBox="true"/>
            <p:nvPr/>
          </p:nvSpPr>
          <p:spPr>
            <a:xfrm rot="0">
              <a:off x="0" y="0"/>
              <a:ext cx="7264400" cy="1066800"/>
            </a:xfrm>
            <a:prstGeom prst="rect">
              <a:avLst/>
            </a:prstGeom>
          </p:spPr>
          <p:txBody>
            <a:bodyPr anchor="t" rtlCol="false" tIns="0" lIns="0" bIns="0" rIns="0">
              <a:spAutoFit/>
            </a:bodyPr>
            <a:lstStyle/>
            <a:p>
              <a:pPr algn="l" marL="0" indent="0" lvl="0">
                <a:lnSpc>
                  <a:spcPts val="3189"/>
                </a:lnSpc>
                <a:spcBef>
                  <a:spcPct val="0"/>
                </a:spcBef>
              </a:pPr>
              <a:r>
                <a:rPr lang="en-US" b="true" sz="2658" strike="noStrike" u="none">
                  <a:solidFill>
                    <a:srgbClr val="ECF0F1"/>
                  </a:solidFill>
                  <a:latin typeface="Bricolage Grotesque Bold"/>
                  <a:ea typeface="Bricolage Grotesque Bold"/>
                  <a:cs typeface="Bricolage Grotesque Bold"/>
                  <a:sym typeface="Bricolage Grotesque Bold"/>
                </a:rPr>
                <a:t>Implementación efectiva como herramienta</a:t>
              </a:r>
            </a:p>
          </p:txBody>
        </p:sp>
        <p:sp>
          <p:nvSpPr>
            <p:cNvPr name="TextBox 11" id="11"/>
            <p:cNvSpPr txBox="true"/>
            <p:nvPr/>
          </p:nvSpPr>
          <p:spPr>
            <a:xfrm rot="0">
              <a:off x="0" y="1189299"/>
              <a:ext cx="7264400" cy="4826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API REST para uso inmediato</a:t>
              </a:r>
            </a:p>
          </p:txBody>
        </p:sp>
      </p:grpSp>
      <p:grpSp>
        <p:nvGrpSpPr>
          <p:cNvPr name="Group 12" id="12"/>
          <p:cNvGrpSpPr/>
          <p:nvPr/>
        </p:nvGrpSpPr>
        <p:grpSpPr>
          <a:xfrm rot="0">
            <a:off x="-282408" y="-295776"/>
            <a:ext cx="8140533" cy="10878553"/>
            <a:chOff x="0" y="0"/>
            <a:chExt cx="1261182" cy="1685372"/>
          </a:xfrm>
        </p:grpSpPr>
        <p:sp>
          <p:nvSpPr>
            <p:cNvPr name="Freeform 13" id="13"/>
            <p:cNvSpPr/>
            <p:nvPr/>
          </p:nvSpPr>
          <p:spPr>
            <a:xfrm flipH="false" flipV="false" rot="0">
              <a:off x="0" y="0"/>
              <a:ext cx="1261182" cy="1685373"/>
            </a:xfrm>
            <a:custGeom>
              <a:avLst/>
              <a:gdLst/>
              <a:ahLst/>
              <a:cxnLst/>
              <a:rect r="r" b="b" t="t" l="l"/>
              <a:pathLst>
                <a:path h="1685373" w="1261182">
                  <a:moveTo>
                    <a:pt x="19021" y="0"/>
                  </a:moveTo>
                  <a:lnTo>
                    <a:pt x="1242161" y="0"/>
                  </a:lnTo>
                  <a:cubicBezTo>
                    <a:pt x="1252666" y="0"/>
                    <a:pt x="1261182" y="8516"/>
                    <a:pt x="1261182" y="19021"/>
                  </a:cubicBezTo>
                  <a:lnTo>
                    <a:pt x="1261182" y="1666352"/>
                  </a:lnTo>
                  <a:cubicBezTo>
                    <a:pt x="1261182" y="1676857"/>
                    <a:pt x="1252666" y="1685373"/>
                    <a:pt x="1242161" y="1685373"/>
                  </a:cubicBezTo>
                  <a:lnTo>
                    <a:pt x="19021" y="1685373"/>
                  </a:lnTo>
                  <a:cubicBezTo>
                    <a:pt x="13976" y="1685373"/>
                    <a:pt x="9138" y="1683369"/>
                    <a:pt x="5571" y="1679802"/>
                  </a:cubicBezTo>
                  <a:cubicBezTo>
                    <a:pt x="2004" y="1676235"/>
                    <a:pt x="0" y="1671396"/>
                    <a:pt x="0" y="1666352"/>
                  </a:cubicBezTo>
                  <a:lnTo>
                    <a:pt x="0" y="19021"/>
                  </a:lnTo>
                  <a:cubicBezTo>
                    <a:pt x="0" y="8516"/>
                    <a:pt x="8516" y="0"/>
                    <a:pt x="19021" y="0"/>
                  </a:cubicBezTo>
                  <a:close/>
                </a:path>
              </a:pathLst>
            </a:custGeom>
            <a:blipFill>
              <a:blip r:embed="rId2"/>
              <a:stretch>
                <a:fillRect l="0" t="-391" r="0" b="-391"/>
              </a:stretch>
            </a:blipFill>
            <a:ln w="19050" cap="sq">
              <a:solidFill>
                <a:srgbClr val="000000"/>
              </a:solidFill>
              <a:prstDash val="solid"/>
              <a:miter/>
            </a:ln>
          </p:spPr>
        </p:sp>
      </p:grpSp>
      <p:grpSp>
        <p:nvGrpSpPr>
          <p:cNvPr name="Group 14" id="14"/>
          <p:cNvGrpSpPr/>
          <p:nvPr/>
        </p:nvGrpSpPr>
        <p:grpSpPr>
          <a:xfrm rot="0">
            <a:off x="15493924" y="6934200"/>
            <a:ext cx="3467057" cy="4305236"/>
            <a:chOff x="0" y="0"/>
            <a:chExt cx="4622743" cy="5740315"/>
          </a:xfrm>
        </p:grpSpPr>
        <p:sp>
          <p:nvSpPr>
            <p:cNvPr name="Freeform 15" id="15"/>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8100000">
              <a:off x="-106337" y="2577879"/>
              <a:ext cx="4835418" cy="1702128"/>
              <a:chOff x="0" y="0"/>
              <a:chExt cx="954623" cy="336039"/>
            </a:xfrm>
          </p:grpSpPr>
          <p:sp>
            <p:nvSpPr>
              <p:cNvPr name="Freeform 17" id="17"/>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8" id="18"/>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666750" y="6038850"/>
            <a:ext cx="5448300" cy="2561923"/>
            <a:chOff x="0" y="0"/>
            <a:chExt cx="7264400" cy="3415897"/>
          </a:xfrm>
        </p:grpSpPr>
        <p:sp>
          <p:nvSpPr>
            <p:cNvPr name="TextBox 3" id="3"/>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Implementación API</a:t>
              </a:r>
            </a:p>
          </p:txBody>
        </p:sp>
        <p:sp>
          <p:nvSpPr>
            <p:cNvPr name="TextBox 4" id="4"/>
            <p:cNvSpPr txBox="true"/>
            <p:nvPr/>
          </p:nvSpPr>
          <p:spPr>
            <a:xfrm rot="0">
              <a:off x="0" y="1214352"/>
              <a:ext cx="7264400" cy="22015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El modelo se ha implementado como una </a:t>
              </a:r>
              <a:r>
                <a:rPr lang="en-US" b="true" sz="2400">
                  <a:solidFill>
                    <a:srgbClr val="ECF0F1"/>
                  </a:solidFill>
                  <a:latin typeface="HK Grotesk Bold"/>
                  <a:ea typeface="HK Grotesk Bold"/>
                  <a:cs typeface="HK Grotesk Bold"/>
                  <a:sym typeface="HK Grotesk Bold"/>
                </a:rPr>
                <a:t>API REST</a:t>
              </a:r>
              <a:r>
                <a:rPr lang="en-US" sz="2400">
                  <a:solidFill>
                    <a:srgbClr val="ECF0F1"/>
                  </a:solidFill>
                  <a:latin typeface="HK Grotesk"/>
                  <a:ea typeface="HK Grotesk"/>
                  <a:cs typeface="HK Grotesk"/>
                  <a:sym typeface="HK Grotesk"/>
                </a:rPr>
                <a:t>, facilitando el acceso en tiempo real a las predicciones para equipos internos y externos.</a:t>
              </a:r>
            </a:p>
          </p:txBody>
        </p:sp>
      </p:grpSp>
      <p:grpSp>
        <p:nvGrpSpPr>
          <p:cNvPr name="Group 5" id="5"/>
          <p:cNvGrpSpPr/>
          <p:nvPr/>
        </p:nvGrpSpPr>
        <p:grpSpPr>
          <a:xfrm rot="0">
            <a:off x="7858125" y="6038850"/>
            <a:ext cx="5448300" cy="2981023"/>
            <a:chOff x="0" y="0"/>
            <a:chExt cx="7264400" cy="3974697"/>
          </a:xfrm>
        </p:grpSpPr>
        <p:sp>
          <p:nvSpPr>
            <p:cNvPr name="TextBox 6" id="6"/>
            <p:cNvSpPr txBox="true"/>
            <p:nvPr/>
          </p:nvSpPr>
          <p:spPr>
            <a:xfrm rot="0">
              <a:off x="0" y="-9525"/>
              <a:ext cx="72644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Beneficios Internos</a:t>
              </a:r>
            </a:p>
          </p:txBody>
        </p:sp>
        <p:sp>
          <p:nvSpPr>
            <p:cNvPr name="TextBox 7" id="7"/>
            <p:cNvSpPr txBox="true"/>
            <p:nvPr/>
          </p:nvSpPr>
          <p:spPr>
            <a:xfrm rot="0">
              <a:off x="0" y="1214352"/>
              <a:ext cx="7264400" cy="27603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Los equipos internos obtienen </a:t>
              </a:r>
              <a:r>
                <a:rPr lang="en-US" b="true" sz="2400">
                  <a:solidFill>
                    <a:srgbClr val="ECF0F1"/>
                  </a:solidFill>
                  <a:latin typeface="HK Grotesk Bold"/>
                  <a:ea typeface="HK Grotesk Bold"/>
                  <a:cs typeface="HK Grotesk Bold"/>
                  <a:sym typeface="HK Grotesk Bold"/>
                </a:rPr>
                <a:t>predicciones rápidas y fiables</a:t>
              </a:r>
              <a:r>
                <a:rPr lang="en-US" sz="2400">
                  <a:solidFill>
                    <a:srgbClr val="ECF0F1"/>
                  </a:solidFill>
                  <a:latin typeface="HK Grotesk"/>
                  <a:ea typeface="HK Grotesk"/>
                  <a:cs typeface="HK Grotesk"/>
                  <a:sym typeface="HK Grotesk"/>
                </a:rPr>
                <a:t>, optimizando el tiempo de desarrollo e inversión en nuevas aplicaciones que tienen una alta probabilidad de éxito.</a:t>
              </a:r>
            </a:p>
          </p:txBody>
        </p:sp>
      </p:grpSp>
      <p:grpSp>
        <p:nvGrpSpPr>
          <p:cNvPr name="Group 8" id="8"/>
          <p:cNvGrpSpPr/>
          <p:nvPr/>
        </p:nvGrpSpPr>
        <p:grpSpPr>
          <a:xfrm rot="0">
            <a:off x="666750" y="666750"/>
            <a:ext cx="12639675" cy="4426902"/>
            <a:chOff x="0" y="0"/>
            <a:chExt cx="16852900" cy="5902537"/>
          </a:xfrm>
        </p:grpSpPr>
        <p:sp>
          <p:nvSpPr>
            <p:cNvPr name="TextBox 9" id="9"/>
            <p:cNvSpPr txBox="true"/>
            <p:nvPr/>
          </p:nvSpPr>
          <p:spPr>
            <a:xfrm rot="0">
              <a:off x="0" y="123825"/>
              <a:ext cx="16852900" cy="4783878"/>
            </a:xfrm>
            <a:prstGeom prst="rect">
              <a:avLst/>
            </a:prstGeom>
          </p:spPr>
          <p:txBody>
            <a:bodyPr anchor="t" rtlCol="false" tIns="0" lIns="0" bIns="0" rIns="0">
              <a:spAutoFit/>
            </a:bodyPr>
            <a:lstStyle/>
            <a:p>
              <a:pPr algn="l" marL="0" indent="0" lvl="0">
                <a:lnSpc>
                  <a:spcPts val="6912"/>
                </a:lnSpc>
              </a:pPr>
              <a:r>
                <a:rPr lang="en-US" b="true" sz="6912" spc="-207" strike="noStrike" u="none">
                  <a:solidFill>
                    <a:srgbClr val="ECF0F1"/>
                  </a:solidFill>
                  <a:latin typeface="Bricolage Grotesque Semi-Bold"/>
                  <a:ea typeface="Bricolage Grotesque Semi-Bold"/>
                  <a:cs typeface="Bricolage Grotesque Semi-Bold"/>
                  <a:sym typeface="Bricolage Grotesque Semi-Bold"/>
                </a:rPr>
                <a:t>"La implementación de modelos predictivos permite decisiones más informadas y efectivas en el desarrollo de apps."</a:t>
              </a:r>
            </a:p>
          </p:txBody>
        </p:sp>
        <p:sp>
          <p:nvSpPr>
            <p:cNvPr name="TextBox 10" id="10"/>
            <p:cNvSpPr txBox="true"/>
            <p:nvPr/>
          </p:nvSpPr>
          <p:spPr>
            <a:xfrm rot="0">
              <a:off x="0" y="5254837"/>
              <a:ext cx="16852900" cy="647700"/>
            </a:xfrm>
            <a:prstGeom prst="rect">
              <a:avLst/>
            </a:prstGeom>
          </p:spPr>
          <p:txBody>
            <a:bodyPr anchor="t" rtlCol="false" tIns="0" lIns="0" bIns="0" rIns="0">
              <a:spAutoFit/>
            </a:bodyPr>
            <a:lstStyle/>
            <a:p>
              <a:pPr algn="l" marL="0" indent="0" lvl="0">
                <a:lnSpc>
                  <a:spcPts val="3900"/>
                </a:lnSpc>
              </a:pPr>
              <a:r>
                <a:rPr lang="en-US" b="true" sz="3000">
                  <a:solidFill>
                    <a:srgbClr val="ECF0F1"/>
                  </a:solidFill>
                  <a:latin typeface="HK Grotesk Medium"/>
                  <a:ea typeface="HK Grotesk Medium"/>
                  <a:cs typeface="HK Grotesk Medium"/>
                  <a:sym typeface="HK Grotesk Medium"/>
                </a:rPr>
                <a:t>– EXPERTO EN TECNOLOGÍA</a:t>
              </a:r>
            </a:p>
          </p:txBody>
        </p:sp>
      </p:grpSp>
      <p:grpSp>
        <p:nvGrpSpPr>
          <p:cNvPr name="Group 11" id="11"/>
          <p:cNvGrpSpPr/>
          <p:nvPr/>
        </p:nvGrpSpPr>
        <p:grpSpPr>
          <a:xfrm rot="0">
            <a:off x="15493924" y="6757579"/>
            <a:ext cx="3467057" cy="4305236"/>
            <a:chOff x="0" y="0"/>
            <a:chExt cx="4622743" cy="5740315"/>
          </a:xfrm>
        </p:grpSpPr>
        <p:sp>
          <p:nvSpPr>
            <p:cNvPr name="Freeform 12" id="12"/>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8100000">
              <a:off x="-106337" y="2577879"/>
              <a:ext cx="4835418" cy="1702128"/>
              <a:chOff x="0" y="0"/>
              <a:chExt cx="954623" cy="336039"/>
            </a:xfrm>
          </p:grpSpPr>
          <p:sp>
            <p:nvSpPr>
              <p:cNvPr name="Freeform 14" id="14"/>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5" id="15"/>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10429875" y="-260311"/>
            <a:ext cx="8517815" cy="10807622"/>
            <a:chOff x="0" y="0"/>
            <a:chExt cx="1747482" cy="2217250"/>
          </a:xfrm>
        </p:grpSpPr>
        <p:sp>
          <p:nvSpPr>
            <p:cNvPr name="Freeform 3" id="3"/>
            <p:cNvSpPr/>
            <p:nvPr/>
          </p:nvSpPr>
          <p:spPr>
            <a:xfrm flipH="false" flipV="false" rot="0">
              <a:off x="0" y="0"/>
              <a:ext cx="1747482" cy="2217250"/>
            </a:xfrm>
            <a:custGeom>
              <a:avLst/>
              <a:gdLst/>
              <a:ahLst/>
              <a:cxnLst/>
              <a:rect r="r" b="b" t="t" l="l"/>
              <a:pathLst>
                <a:path h="2217250" w="1747482">
                  <a:moveTo>
                    <a:pt x="18178" y="0"/>
                  </a:moveTo>
                  <a:lnTo>
                    <a:pt x="1729304" y="0"/>
                  </a:lnTo>
                  <a:cubicBezTo>
                    <a:pt x="1739344" y="0"/>
                    <a:pt x="1747482" y="8139"/>
                    <a:pt x="1747482" y="18178"/>
                  </a:cubicBezTo>
                  <a:lnTo>
                    <a:pt x="1747482" y="2199072"/>
                  </a:lnTo>
                  <a:cubicBezTo>
                    <a:pt x="1747482" y="2209112"/>
                    <a:pt x="1739344" y="2217250"/>
                    <a:pt x="1729304" y="2217250"/>
                  </a:cubicBezTo>
                  <a:lnTo>
                    <a:pt x="18178" y="2217250"/>
                  </a:lnTo>
                  <a:cubicBezTo>
                    <a:pt x="8139" y="2217250"/>
                    <a:pt x="0" y="2209112"/>
                    <a:pt x="0" y="2199072"/>
                  </a:cubicBezTo>
                  <a:lnTo>
                    <a:pt x="0" y="18178"/>
                  </a:lnTo>
                  <a:cubicBezTo>
                    <a:pt x="0" y="8139"/>
                    <a:pt x="8139" y="0"/>
                    <a:pt x="18178" y="0"/>
                  </a:cubicBezTo>
                  <a:close/>
                </a:path>
              </a:pathLst>
            </a:custGeom>
            <a:blipFill>
              <a:blip r:embed="rId2"/>
              <a:stretch>
                <a:fillRect l="0" t="-359" r="0" b="-359"/>
              </a:stretch>
            </a:blipFill>
            <a:ln w="19050" cap="sq">
              <a:solidFill>
                <a:srgbClr val="000000"/>
              </a:solidFill>
              <a:prstDash val="solid"/>
              <a:miter/>
            </a:ln>
          </p:spPr>
        </p:sp>
      </p:grpSp>
      <p:grpSp>
        <p:nvGrpSpPr>
          <p:cNvPr name="Group 4" id="4"/>
          <p:cNvGrpSpPr/>
          <p:nvPr/>
        </p:nvGrpSpPr>
        <p:grpSpPr>
          <a:xfrm rot="0">
            <a:off x="666750" y="666750"/>
            <a:ext cx="8324850" cy="5721032"/>
            <a:chOff x="0" y="0"/>
            <a:chExt cx="11099800" cy="7628043"/>
          </a:xfrm>
        </p:grpSpPr>
        <p:sp>
          <p:nvSpPr>
            <p:cNvPr name="TextBox 5" id="5"/>
            <p:cNvSpPr txBox="true"/>
            <p:nvPr/>
          </p:nvSpPr>
          <p:spPr>
            <a:xfrm rot="0">
              <a:off x="0" y="123825"/>
              <a:ext cx="11099800" cy="3495252"/>
            </a:xfrm>
            <a:prstGeom prst="rect">
              <a:avLst/>
            </a:prstGeom>
          </p:spPr>
          <p:txBody>
            <a:bodyPr anchor="t" rtlCol="false" tIns="0" lIns="0" bIns="0" rIns="0">
              <a:spAutoFit/>
            </a:bodyPr>
            <a:lstStyle/>
            <a:p>
              <a:pPr algn="l" marL="0" indent="0" lvl="0">
                <a:lnSpc>
                  <a:spcPts val="6737"/>
                </a:lnSpc>
                <a:spcBef>
                  <a:spcPct val="0"/>
                </a:spcBef>
              </a:pPr>
              <a:r>
                <a:rPr lang="en-US" b="true" sz="6737" spc="-202" strike="noStrike" u="none">
                  <a:solidFill>
                    <a:srgbClr val="ECF0F1"/>
                  </a:solidFill>
                  <a:latin typeface="Bricolage Grotesque Semi-Bold"/>
                  <a:ea typeface="Bricolage Grotesque Semi-Bold"/>
                  <a:cs typeface="Bricolage Grotesque Semi-Bold"/>
                  <a:sym typeface="Bricolage Grotesque Semi-Bold"/>
                </a:rPr>
                <a:t>Estrategias para Maximizar Retorno de Inversión</a:t>
              </a:r>
            </a:p>
          </p:txBody>
        </p:sp>
        <p:sp>
          <p:nvSpPr>
            <p:cNvPr name="TextBox 6" id="6"/>
            <p:cNvSpPr txBox="true"/>
            <p:nvPr/>
          </p:nvSpPr>
          <p:spPr>
            <a:xfrm rot="0">
              <a:off x="0" y="5697643"/>
              <a:ext cx="11099800" cy="1930400"/>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La implementación de nuestro sistema permite </a:t>
              </a:r>
              <a:r>
                <a:rPr lang="en-US" b="true" sz="2400" strike="noStrike" u="none">
                  <a:solidFill>
                    <a:srgbClr val="ECF0F1"/>
                  </a:solidFill>
                  <a:latin typeface="HK Grotesk Bold"/>
                  <a:ea typeface="HK Grotesk Bold"/>
                  <a:cs typeface="HK Grotesk Bold"/>
                  <a:sym typeface="HK Grotesk Bold"/>
                </a:rPr>
                <a:t>optimizar recursos</a:t>
              </a:r>
              <a:r>
                <a:rPr lang="en-US" sz="2400" strike="noStrike" u="none">
                  <a:solidFill>
                    <a:srgbClr val="ECF0F1"/>
                  </a:solidFill>
                  <a:latin typeface="HK Grotesk"/>
                  <a:ea typeface="HK Grotesk"/>
                  <a:cs typeface="HK Grotesk"/>
                  <a:sym typeface="HK Grotesk"/>
                </a:rPr>
                <a:t> y enfocar inversiones en apps con alta probabilidad de éxito, reduciendo riesgos y aumentando el retorno esperado.</a:t>
              </a:r>
            </a:p>
          </p:txBody>
        </p:sp>
        <p:sp>
          <p:nvSpPr>
            <p:cNvPr name="TextBox 7" id="7"/>
            <p:cNvSpPr txBox="true"/>
            <p:nvPr/>
          </p:nvSpPr>
          <p:spPr>
            <a:xfrm rot="0">
              <a:off x="0" y="3960918"/>
              <a:ext cx="11099800" cy="1152525"/>
            </a:xfrm>
            <a:prstGeom prst="rect">
              <a:avLst/>
            </a:prstGeom>
          </p:spPr>
          <p:txBody>
            <a:bodyPr anchor="t" rtlCol="false" tIns="0" lIns="0" bIns="0" rIns="0">
              <a:spAutoFit/>
            </a:bodyPr>
            <a:lstStyle/>
            <a:p>
              <a:pPr algn="l" marL="0" indent="0" lvl="0">
                <a:lnSpc>
                  <a:spcPts val="3442"/>
                </a:lnSpc>
                <a:spcBef>
                  <a:spcPct val="0"/>
                </a:spcBef>
              </a:pPr>
              <a:r>
                <a:rPr lang="en-US" b="true" sz="2868" strike="noStrike" u="none">
                  <a:solidFill>
                    <a:srgbClr val="ECF0F1"/>
                  </a:solidFill>
                  <a:latin typeface="Bricolage Grotesque Bold"/>
                  <a:ea typeface="Bricolage Grotesque Bold"/>
                  <a:cs typeface="Bricolage Grotesque Bold"/>
                  <a:sym typeface="Bricolage Grotesque Bold"/>
                </a:rPr>
                <a:t>Ventajas Financieras del Proyecto de Optimización</a:t>
              </a:r>
            </a:p>
          </p:txBody>
        </p:sp>
      </p:grpSp>
      <p:grpSp>
        <p:nvGrpSpPr>
          <p:cNvPr name="Group 8" id="8"/>
          <p:cNvGrpSpPr/>
          <p:nvPr/>
        </p:nvGrpSpPr>
        <p:grpSpPr>
          <a:xfrm rot="0">
            <a:off x="8696346" y="6934200"/>
            <a:ext cx="3467057" cy="4305236"/>
            <a:chOff x="0" y="0"/>
            <a:chExt cx="4622743" cy="5740315"/>
          </a:xfrm>
        </p:grpSpPr>
        <p:sp>
          <p:nvSpPr>
            <p:cNvPr name="Freeform 9" id="9"/>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8100000">
              <a:off x="-106337" y="2577879"/>
              <a:ext cx="4835418" cy="1702128"/>
              <a:chOff x="0" y="0"/>
              <a:chExt cx="954623" cy="336039"/>
            </a:xfrm>
          </p:grpSpPr>
          <p:sp>
            <p:nvSpPr>
              <p:cNvPr name="Freeform 11" id="11"/>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2" id="12"/>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grpSp>
        <p:nvGrpSpPr>
          <p:cNvPr name="Group 13" id="13"/>
          <p:cNvGrpSpPr/>
          <p:nvPr/>
        </p:nvGrpSpPr>
        <p:grpSpPr>
          <a:xfrm rot="0">
            <a:off x="666750" y="6748625"/>
            <a:ext cx="8324850" cy="2142823"/>
            <a:chOff x="0" y="0"/>
            <a:chExt cx="11099800" cy="2857097"/>
          </a:xfrm>
        </p:grpSpPr>
        <p:sp>
          <p:nvSpPr>
            <p:cNvPr name="TextBox 14" id="14"/>
            <p:cNvSpPr txBox="true"/>
            <p:nvPr/>
          </p:nvSpPr>
          <p:spPr>
            <a:xfrm rot="0">
              <a:off x="0" y="-9525"/>
              <a:ext cx="110998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Optimización Presupuestaria</a:t>
              </a:r>
            </a:p>
          </p:txBody>
        </p:sp>
        <p:sp>
          <p:nvSpPr>
            <p:cNvPr name="TextBox 15" id="15"/>
            <p:cNvSpPr txBox="true"/>
            <p:nvPr/>
          </p:nvSpPr>
          <p:spPr>
            <a:xfrm rot="0">
              <a:off x="0" y="1214352"/>
              <a:ext cx="11099800" cy="16427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Implementar un modelo predictivo permite </a:t>
              </a:r>
              <a:r>
                <a:rPr lang="en-US" b="true" sz="2400">
                  <a:solidFill>
                    <a:srgbClr val="ECF0F1"/>
                  </a:solidFill>
                  <a:latin typeface="HK Grotesk Bold"/>
                  <a:ea typeface="HK Grotesk Bold"/>
                  <a:cs typeface="HK Grotesk Bold"/>
                  <a:sym typeface="HK Grotesk Bold"/>
                </a:rPr>
                <a:t>dirigir recursos</a:t>
              </a:r>
              <a:r>
                <a:rPr lang="en-US" sz="2400">
                  <a:solidFill>
                    <a:srgbClr val="ECF0F1"/>
                  </a:solidFill>
                  <a:latin typeface="HK Grotesk"/>
                  <a:ea typeface="HK Grotesk"/>
                  <a:cs typeface="HK Grotesk"/>
                  <a:sym typeface="HK Grotesk"/>
                </a:rPr>
                <a:t> a aplicaciones con mayor potencial, maximizando el retorno de inversión y asegurando un uso eficiente del presupuesto.</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1028700" y="5817045"/>
            <a:ext cx="9899180" cy="2142823"/>
            <a:chOff x="0" y="0"/>
            <a:chExt cx="13198907" cy="2857097"/>
          </a:xfrm>
        </p:grpSpPr>
        <p:sp>
          <p:nvSpPr>
            <p:cNvPr name="TextBox 3" id="3"/>
            <p:cNvSpPr txBox="true"/>
            <p:nvPr/>
          </p:nvSpPr>
          <p:spPr>
            <a:xfrm rot="0">
              <a:off x="0" y="-9525"/>
              <a:ext cx="13198907"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CF0F1"/>
                  </a:solidFill>
                  <a:latin typeface="Bricolage Grotesque Bold"/>
                  <a:ea typeface="Bricolage Grotesque Bold"/>
                  <a:cs typeface="Bricolage Grotesque Bold"/>
                  <a:sym typeface="Bricolage Grotesque Bold"/>
                </a:rPr>
                <a:t>Reducción de Riesgos</a:t>
              </a:r>
            </a:p>
          </p:txBody>
        </p:sp>
        <p:sp>
          <p:nvSpPr>
            <p:cNvPr name="TextBox 4" id="4"/>
            <p:cNvSpPr txBox="true"/>
            <p:nvPr/>
          </p:nvSpPr>
          <p:spPr>
            <a:xfrm rot="0">
              <a:off x="0" y="1214352"/>
              <a:ext cx="13198907" cy="1642745"/>
            </a:xfrm>
            <a:prstGeom prst="rect">
              <a:avLst/>
            </a:prstGeom>
          </p:spPr>
          <p:txBody>
            <a:bodyPr anchor="t" rtlCol="false" tIns="0" lIns="0" bIns="0" rIns="0">
              <a:spAutoFit/>
            </a:bodyPr>
            <a:lstStyle/>
            <a:p>
              <a:pPr algn="l" marL="0" indent="0" lvl="0">
                <a:lnSpc>
                  <a:spcPts val="3359"/>
                </a:lnSpc>
              </a:pPr>
              <a:r>
                <a:rPr lang="en-US" sz="2400">
                  <a:solidFill>
                    <a:srgbClr val="ECF0F1"/>
                  </a:solidFill>
                  <a:latin typeface="HK Grotesk"/>
                  <a:ea typeface="HK Grotesk"/>
                  <a:cs typeface="HK Grotesk"/>
                  <a:sym typeface="HK Grotesk"/>
                </a:rPr>
                <a:t>La herramienta de predicción ayuda a identificar aplicaciones con alta probabilidad de éxito, </a:t>
              </a:r>
              <a:r>
                <a:rPr lang="en-US" b="true" sz="2400">
                  <a:solidFill>
                    <a:srgbClr val="ECF0F1"/>
                  </a:solidFill>
                  <a:latin typeface="HK Grotesk Bold"/>
                  <a:ea typeface="HK Grotesk Bold"/>
                  <a:cs typeface="HK Grotesk Bold"/>
                  <a:sym typeface="HK Grotesk Bold"/>
                </a:rPr>
                <a:t>disminuyendo la incertidumbre</a:t>
              </a:r>
              <a:r>
                <a:rPr lang="en-US" sz="2400">
                  <a:solidFill>
                    <a:srgbClr val="ECF0F1"/>
                  </a:solidFill>
                  <a:latin typeface="HK Grotesk"/>
                  <a:ea typeface="HK Grotesk"/>
                  <a:cs typeface="HK Grotesk"/>
                  <a:sym typeface="HK Grotesk"/>
                </a:rPr>
                <a:t> y permitiendo decisiones más seguras a la hora de invertir.</a:t>
              </a:r>
            </a:p>
          </p:txBody>
        </p:sp>
      </p:grpSp>
      <p:grpSp>
        <p:nvGrpSpPr>
          <p:cNvPr name="Group 5" id="5"/>
          <p:cNvGrpSpPr/>
          <p:nvPr/>
        </p:nvGrpSpPr>
        <p:grpSpPr>
          <a:xfrm rot="0">
            <a:off x="666750" y="666750"/>
            <a:ext cx="12639675" cy="4467225"/>
            <a:chOff x="0" y="0"/>
            <a:chExt cx="16852900" cy="5956300"/>
          </a:xfrm>
        </p:grpSpPr>
        <p:sp>
          <p:nvSpPr>
            <p:cNvPr name="TextBox 6" id="6"/>
            <p:cNvSpPr txBox="true"/>
            <p:nvPr/>
          </p:nvSpPr>
          <p:spPr>
            <a:xfrm rot="0">
              <a:off x="0" y="133350"/>
              <a:ext cx="16852900" cy="4828117"/>
            </a:xfrm>
            <a:prstGeom prst="rect">
              <a:avLst/>
            </a:prstGeom>
          </p:spPr>
          <p:txBody>
            <a:bodyPr anchor="t" rtlCol="false" tIns="0" lIns="0" bIns="0" rIns="0">
              <a:spAutoFit/>
            </a:bodyPr>
            <a:lstStyle/>
            <a:p>
              <a:pPr algn="l" marL="0" indent="0" lvl="0">
                <a:lnSpc>
                  <a:spcPts val="6999"/>
                </a:lnSpc>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"Informed decisions lead to optimal resource allocation and minimize risks in app investments."</a:t>
              </a:r>
            </a:p>
          </p:txBody>
        </p:sp>
        <p:sp>
          <p:nvSpPr>
            <p:cNvPr name="TextBox 7" id="7"/>
            <p:cNvSpPr txBox="true"/>
            <p:nvPr/>
          </p:nvSpPr>
          <p:spPr>
            <a:xfrm rot="0">
              <a:off x="0" y="5308600"/>
              <a:ext cx="16852900" cy="647700"/>
            </a:xfrm>
            <a:prstGeom prst="rect">
              <a:avLst/>
            </a:prstGeom>
          </p:spPr>
          <p:txBody>
            <a:bodyPr anchor="t" rtlCol="false" tIns="0" lIns="0" bIns="0" rIns="0">
              <a:spAutoFit/>
            </a:bodyPr>
            <a:lstStyle/>
            <a:p>
              <a:pPr algn="l" marL="0" indent="0" lvl="0">
                <a:lnSpc>
                  <a:spcPts val="3900"/>
                </a:lnSpc>
              </a:pPr>
              <a:r>
                <a:rPr lang="en-US" b="true" sz="3000">
                  <a:solidFill>
                    <a:srgbClr val="ECF0F1"/>
                  </a:solidFill>
                  <a:latin typeface="HK Grotesk Medium"/>
                  <a:ea typeface="HK Grotesk Medium"/>
                  <a:cs typeface="HK Grotesk Medium"/>
                  <a:sym typeface="HK Grotesk Medium"/>
                </a:rPr>
                <a:t>– ANÁLISIS DE DATOS</a:t>
              </a:r>
            </a:p>
          </p:txBody>
        </p:sp>
      </p:grpSp>
      <p:grpSp>
        <p:nvGrpSpPr>
          <p:cNvPr name="Group 8" id="8"/>
          <p:cNvGrpSpPr/>
          <p:nvPr/>
        </p:nvGrpSpPr>
        <p:grpSpPr>
          <a:xfrm rot="0">
            <a:off x="15493924" y="6757579"/>
            <a:ext cx="3467057" cy="4305236"/>
            <a:chOff x="0" y="0"/>
            <a:chExt cx="4622743" cy="5740315"/>
          </a:xfrm>
        </p:grpSpPr>
        <p:sp>
          <p:nvSpPr>
            <p:cNvPr name="Freeform 9" id="9"/>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8100000">
              <a:off x="-106337" y="2577879"/>
              <a:ext cx="4835418" cy="1702128"/>
              <a:chOff x="0" y="0"/>
              <a:chExt cx="954623" cy="336039"/>
            </a:xfrm>
          </p:grpSpPr>
          <p:sp>
            <p:nvSpPr>
              <p:cNvPr name="Freeform 11" id="11"/>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2" id="12"/>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TextBox 2" id="2"/>
          <p:cNvSpPr txBox="true"/>
          <p:nvPr/>
        </p:nvSpPr>
        <p:spPr>
          <a:xfrm rot="0">
            <a:off x="666750" y="2347146"/>
            <a:ext cx="7862516" cy="4343400"/>
          </a:xfrm>
          <a:prstGeom prst="rect">
            <a:avLst/>
          </a:prstGeom>
        </p:spPr>
        <p:txBody>
          <a:bodyPr anchor="t" rtlCol="false" tIns="0" lIns="0" bIns="0" rIns="0">
            <a:spAutoFit/>
          </a:bodyPr>
          <a:lstStyle/>
          <a:p>
            <a:pPr algn="l" marL="0" indent="0" lvl="0">
              <a:lnSpc>
                <a:spcPts val="2879"/>
              </a:lnSpc>
              <a:spcBef>
                <a:spcPct val="0"/>
              </a:spcBef>
            </a:pPr>
            <a:r>
              <a:rPr lang="en-US" sz="2400">
                <a:solidFill>
                  <a:srgbClr val="ECF0F1"/>
                </a:solidFill>
                <a:latin typeface="HK Grotesk"/>
                <a:ea typeface="HK Grotesk"/>
                <a:cs typeface="HK Grotesk"/>
                <a:sym typeface="HK Grotesk"/>
              </a:rPr>
              <a:t>El Proyecto de Optimización logró transformar la predicción de popularidad en</a:t>
            </a:r>
            <a:r>
              <a:rPr lang="en-US" sz="2400" strike="noStrike" u="none">
                <a:solidFill>
                  <a:srgbClr val="ECF0F1"/>
                </a:solidFill>
                <a:latin typeface="HK Grotesk"/>
                <a:ea typeface="HK Grotesk"/>
                <a:cs typeface="HK Grotesk"/>
                <a:sym typeface="HK Grotesk"/>
              </a:rPr>
              <a:t> </a:t>
            </a:r>
            <a:r>
              <a:rPr lang="en-US" sz="2400" strike="noStrike" u="none">
                <a:solidFill>
                  <a:srgbClr val="ECF0F1"/>
                </a:solidFill>
                <a:latin typeface="HK Grotesk"/>
                <a:ea typeface="HK Grotesk"/>
                <a:cs typeface="HK Grotesk"/>
                <a:sym typeface="HK Grotesk"/>
              </a:rPr>
              <a:t>u</a:t>
            </a:r>
            <a:r>
              <a:rPr lang="en-US" sz="2400" strike="noStrike" u="none">
                <a:solidFill>
                  <a:srgbClr val="ECF0F1"/>
                </a:solidFill>
                <a:latin typeface="HK Grotesk"/>
                <a:ea typeface="HK Grotesk"/>
                <a:cs typeface="HK Grotesk"/>
                <a:sym typeface="HK Grotesk"/>
              </a:rPr>
              <a:t>n</a:t>
            </a:r>
            <a:r>
              <a:rPr lang="en-US" sz="2400" strike="noStrike" u="none">
                <a:solidFill>
                  <a:srgbClr val="ECF0F1"/>
                </a:solidFill>
                <a:latin typeface="HK Grotesk"/>
                <a:ea typeface="HK Grotesk"/>
                <a:cs typeface="HK Grotesk"/>
                <a:sym typeface="HK Grotesk"/>
              </a:rPr>
              <a:t>a </a:t>
            </a:r>
            <a:r>
              <a:rPr lang="en-US" sz="2400" strike="noStrike" u="none">
                <a:solidFill>
                  <a:srgbClr val="ECF0F1"/>
                </a:solidFill>
                <a:latin typeface="HK Grotesk"/>
                <a:ea typeface="HK Grotesk"/>
                <a:cs typeface="HK Grotesk"/>
                <a:sym typeface="HK Grotesk"/>
              </a:rPr>
              <a:t>her</a:t>
            </a:r>
            <a:r>
              <a:rPr lang="en-US" sz="2400" strike="noStrike" u="none">
                <a:solidFill>
                  <a:srgbClr val="ECF0F1"/>
                </a:solidFill>
                <a:latin typeface="HK Grotesk"/>
                <a:ea typeface="HK Grotesk"/>
                <a:cs typeface="HK Grotesk"/>
                <a:sym typeface="HK Grotesk"/>
              </a:rPr>
              <a:t>rami</a:t>
            </a:r>
            <a:r>
              <a:rPr lang="en-US" sz="2400" strike="noStrike" u="none">
                <a:solidFill>
                  <a:srgbClr val="ECF0F1"/>
                </a:solidFill>
                <a:latin typeface="HK Grotesk"/>
                <a:ea typeface="HK Grotesk"/>
                <a:cs typeface="HK Grotesk"/>
                <a:sym typeface="HK Grotesk"/>
              </a:rPr>
              <a:t>e</a:t>
            </a:r>
            <a:r>
              <a:rPr lang="en-US" sz="2400" strike="noStrike" u="none">
                <a:solidFill>
                  <a:srgbClr val="ECF0F1"/>
                </a:solidFill>
                <a:latin typeface="HK Grotesk"/>
                <a:ea typeface="HK Grotesk"/>
                <a:cs typeface="HK Grotesk"/>
                <a:sym typeface="HK Grotesk"/>
              </a:rPr>
              <a:t>nta</a:t>
            </a:r>
            <a:r>
              <a:rPr lang="en-US" sz="2400" strike="noStrike" u="none">
                <a:solidFill>
                  <a:srgbClr val="ECF0F1"/>
                </a:solidFill>
                <a:latin typeface="HK Grotesk"/>
                <a:ea typeface="HK Grotesk"/>
                <a:cs typeface="HK Grotesk"/>
                <a:sym typeface="HK Grotesk"/>
              </a:rPr>
              <a:t> </a:t>
            </a:r>
            <a:r>
              <a:rPr lang="en-US" sz="2400" strike="noStrike" u="none">
                <a:solidFill>
                  <a:srgbClr val="ECF0F1"/>
                </a:solidFill>
                <a:latin typeface="HK Grotesk"/>
                <a:ea typeface="HK Grotesk"/>
                <a:cs typeface="HK Grotesk"/>
                <a:sym typeface="HK Grotesk"/>
              </a:rPr>
              <a:t>confiable</a:t>
            </a:r>
            <a:r>
              <a:rPr lang="en-US" sz="2400" strike="noStrike" u="none">
                <a:solidFill>
                  <a:srgbClr val="ECF0F1"/>
                </a:solidFill>
                <a:latin typeface="HK Grotesk"/>
                <a:ea typeface="HK Grotesk"/>
                <a:cs typeface="HK Grotesk"/>
                <a:sym typeface="HK Grotesk"/>
              </a:rPr>
              <a:t>. A</a:t>
            </a:r>
            <a:r>
              <a:rPr lang="en-US" sz="2400" strike="noStrike" u="none">
                <a:solidFill>
                  <a:srgbClr val="ECF0F1"/>
                </a:solidFill>
                <a:latin typeface="HK Grotesk"/>
                <a:ea typeface="HK Grotesk"/>
                <a:cs typeface="HK Grotesk"/>
                <a:sym typeface="HK Grotesk"/>
              </a:rPr>
              <a:t>l i</a:t>
            </a:r>
            <a:r>
              <a:rPr lang="en-US" sz="2400" strike="noStrike" u="none">
                <a:solidFill>
                  <a:srgbClr val="ECF0F1"/>
                </a:solidFill>
                <a:latin typeface="HK Grotesk"/>
                <a:ea typeface="HK Grotesk"/>
                <a:cs typeface="HK Grotesk"/>
                <a:sym typeface="HK Grotesk"/>
              </a:rPr>
              <a:t>n</a:t>
            </a:r>
            <a:r>
              <a:rPr lang="en-US" sz="2400" strike="noStrike" u="none">
                <a:solidFill>
                  <a:srgbClr val="ECF0F1"/>
                </a:solidFill>
                <a:latin typeface="HK Grotesk"/>
                <a:ea typeface="HK Grotesk"/>
                <a:cs typeface="HK Grotesk"/>
                <a:sym typeface="HK Grotesk"/>
              </a:rPr>
              <a:t>tegrar la opinión real del usuario</a:t>
            </a:r>
            <a:r>
              <a:rPr lang="en-US" sz="2400" strike="noStrike" u="none">
                <a:solidFill>
                  <a:srgbClr val="ECF0F1"/>
                </a:solidFill>
                <a:latin typeface="HK Grotesk"/>
                <a:ea typeface="HK Grotesk"/>
                <a:cs typeface="HK Grotesk"/>
                <a:sym typeface="HK Grotesk"/>
              </a:rPr>
              <a:t> </a:t>
            </a:r>
            <a:r>
              <a:rPr lang="en-US" sz="2400" strike="noStrike" u="none">
                <a:solidFill>
                  <a:srgbClr val="ECF0F1"/>
                </a:solidFill>
                <a:latin typeface="HK Grotesk"/>
                <a:ea typeface="HK Grotesk"/>
                <a:cs typeface="HK Grotesk"/>
                <a:sym typeface="HK Grotesk"/>
              </a:rPr>
              <a:t>(sent</a:t>
            </a:r>
            <a:r>
              <a:rPr lang="en-US" sz="2400" strike="noStrike" u="none">
                <a:solidFill>
                  <a:srgbClr val="ECF0F1"/>
                </a:solidFill>
                <a:latin typeface="HK Grotesk"/>
                <a:ea typeface="HK Grotesk"/>
                <a:cs typeface="HK Grotesk"/>
                <a:sym typeface="HK Grotesk"/>
              </a:rPr>
              <a:t>i</a:t>
            </a:r>
            <a:r>
              <a:rPr lang="en-US" sz="2400" strike="noStrike" u="none">
                <a:solidFill>
                  <a:srgbClr val="ECF0F1"/>
                </a:solidFill>
                <a:latin typeface="HK Grotesk"/>
                <a:ea typeface="HK Grotesk"/>
                <a:cs typeface="HK Grotesk"/>
                <a:sym typeface="HK Grotesk"/>
              </a:rPr>
              <a:t>mien</a:t>
            </a:r>
            <a:r>
              <a:rPr lang="en-US" sz="2400" strike="noStrike" u="none">
                <a:solidFill>
                  <a:srgbClr val="ECF0F1"/>
                </a:solidFill>
                <a:latin typeface="HK Grotesk"/>
                <a:ea typeface="HK Grotesk"/>
                <a:cs typeface="HK Grotesk"/>
                <a:sym typeface="HK Grotesk"/>
              </a:rPr>
              <a:t>t</a:t>
            </a:r>
            <a:r>
              <a:rPr lang="en-US" sz="2400" strike="noStrike" u="none">
                <a:solidFill>
                  <a:srgbClr val="ECF0F1"/>
                </a:solidFill>
                <a:latin typeface="HK Grotesk"/>
                <a:ea typeface="HK Grotesk"/>
                <a:cs typeface="HK Grotesk"/>
                <a:sym typeface="HK Grotesk"/>
              </a:rPr>
              <a:t>o) </a:t>
            </a:r>
            <a:r>
              <a:rPr lang="en-US" sz="2400" strike="noStrike" u="none">
                <a:solidFill>
                  <a:srgbClr val="ECF0F1"/>
                </a:solidFill>
                <a:latin typeface="HK Grotesk"/>
                <a:ea typeface="HK Grotesk"/>
                <a:cs typeface="HK Grotesk"/>
                <a:sym typeface="HK Grotesk"/>
              </a:rPr>
              <a:t>y</a:t>
            </a:r>
            <a:r>
              <a:rPr lang="en-US" sz="2400" strike="noStrike" u="none">
                <a:solidFill>
                  <a:srgbClr val="ECF0F1"/>
                </a:solidFill>
                <a:latin typeface="HK Grotesk"/>
                <a:ea typeface="HK Grotesk"/>
                <a:cs typeface="HK Grotesk"/>
                <a:sym typeface="HK Grotesk"/>
              </a:rPr>
              <a:t> usar técnicas</a:t>
            </a:r>
            <a:r>
              <a:rPr lang="en-US" sz="2400" strike="noStrike" u="none">
                <a:solidFill>
                  <a:srgbClr val="ECF0F1"/>
                </a:solidFill>
                <a:latin typeface="HK Grotesk"/>
                <a:ea typeface="HK Grotesk"/>
                <a:cs typeface="HK Grotesk"/>
                <a:sym typeface="HK Grotesk"/>
              </a:rPr>
              <a:t> </a:t>
            </a:r>
            <a:r>
              <a:rPr lang="en-US" sz="2400" strike="noStrike" u="none">
                <a:solidFill>
                  <a:srgbClr val="ECF0F1"/>
                </a:solidFill>
                <a:latin typeface="HK Grotesk"/>
                <a:ea typeface="HK Grotesk"/>
                <a:cs typeface="HK Grotesk"/>
                <a:sym typeface="HK Grotesk"/>
              </a:rPr>
              <a:t>avanzadas (</a:t>
            </a:r>
            <a:r>
              <a:rPr lang="en-US" sz="2400" strike="noStrike" u="none">
                <a:solidFill>
                  <a:srgbClr val="ECF0F1"/>
                </a:solidFill>
                <a:latin typeface="HK Grotesk"/>
                <a:ea typeface="HK Grotesk"/>
                <a:cs typeface="HK Grotesk"/>
                <a:sym typeface="HK Grotesk"/>
              </a:rPr>
              <a:t>S</a:t>
            </a:r>
            <a:r>
              <a:rPr lang="en-US" sz="2400" strike="noStrike" u="none">
                <a:solidFill>
                  <a:srgbClr val="ECF0F1"/>
                </a:solidFill>
                <a:latin typeface="HK Grotesk"/>
                <a:ea typeface="HK Grotesk"/>
                <a:cs typeface="HK Grotesk"/>
                <a:sym typeface="HK Grotesk"/>
              </a:rPr>
              <a:t>MO</a:t>
            </a:r>
            <a:r>
              <a:rPr lang="en-US" sz="2400" strike="noStrike" u="none">
                <a:solidFill>
                  <a:srgbClr val="ECF0F1"/>
                </a:solidFill>
                <a:latin typeface="HK Grotesk"/>
                <a:ea typeface="HK Grotesk"/>
                <a:cs typeface="HK Grotesk"/>
                <a:sym typeface="HK Grotesk"/>
              </a:rPr>
              <a:t>T</a:t>
            </a:r>
            <a:r>
              <a:rPr lang="en-US" sz="2400" strike="noStrike" u="none">
                <a:solidFill>
                  <a:srgbClr val="ECF0F1"/>
                </a:solidFill>
                <a:latin typeface="HK Grotesk"/>
                <a:ea typeface="HK Grotesk"/>
                <a:cs typeface="HK Grotesk"/>
                <a:sym typeface="HK Grotesk"/>
              </a:rPr>
              <a:t>E)</a:t>
            </a:r>
            <a:r>
              <a:rPr lang="en-US" sz="2400" strike="noStrike" u="none">
                <a:solidFill>
                  <a:srgbClr val="ECF0F1"/>
                </a:solidFill>
                <a:latin typeface="HK Grotesk"/>
                <a:ea typeface="HK Grotesk"/>
                <a:cs typeface="HK Grotesk"/>
                <a:sym typeface="HK Grotesk"/>
              </a:rPr>
              <a:t> </a:t>
            </a:r>
            <a:r>
              <a:rPr lang="en-US" sz="2400" strike="noStrike" u="none">
                <a:solidFill>
                  <a:srgbClr val="ECF0F1"/>
                </a:solidFill>
                <a:latin typeface="HK Grotesk"/>
                <a:ea typeface="HK Grotesk"/>
                <a:cs typeface="HK Grotesk"/>
                <a:sym typeface="HK Grotesk"/>
              </a:rPr>
              <a:t>para eliminar el sesgo de la muestra, el modelo XGBoost alcanzó una confianza de predicción del 78%.</a:t>
            </a:r>
          </a:p>
          <a:p>
            <a:pPr algn="l" marL="0" indent="0" lvl="0">
              <a:lnSpc>
                <a:spcPts val="2879"/>
              </a:lnSpc>
              <a:spcBef>
                <a:spcPct val="0"/>
              </a:spcBef>
            </a:pPr>
          </a:p>
          <a:p>
            <a:pPr algn="l" marL="0" indent="0" lvl="0">
              <a:lnSpc>
                <a:spcPts val="2879"/>
              </a:lnSpc>
              <a:spcBef>
                <a:spcPct val="0"/>
              </a:spcBef>
            </a:pPr>
            <a:r>
              <a:rPr lang="en-US" sz="2400" strike="noStrike" u="none">
                <a:solidFill>
                  <a:srgbClr val="ECF0F1"/>
                </a:solidFill>
                <a:latin typeface="HK Grotesk"/>
                <a:ea typeface="HK Grotesk"/>
                <a:cs typeface="HK Grotesk"/>
                <a:sym typeface="HK Grotesk"/>
              </a:rPr>
              <a:t>Esto significa que tenemos un sistema altamente preciso, desplegado en una API funcional, listo para maximizar la inversión al identificar las aplicaciones que tienen una alta probabilidad de convertirse en estrellas del mercado.</a:t>
            </a:r>
          </a:p>
          <a:p>
            <a:pPr algn="l" marL="0" indent="0" lvl="0">
              <a:lnSpc>
                <a:spcPts val="2879"/>
              </a:lnSpc>
              <a:spcBef>
                <a:spcPct val="0"/>
              </a:spcBef>
            </a:pPr>
          </a:p>
        </p:txBody>
      </p:sp>
      <p:sp>
        <p:nvSpPr>
          <p:cNvPr name="TextBox 3" id="3"/>
          <p:cNvSpPr txBox="true"/>
          <p:nvPr/>
        </p:nvSpPr>
        <p:spPr>
          <a:xfrm rot="0">
            <a:off x="666750" y="800100"/>
            <a:ext cx="6886575" cy="930275"/>
          </a:xfrm>
          <a:prstGeom prst="rect">
            <a:avLst/>
          </a:prstGeom>
        </p:spPr>
        <p:txBody>
          <a:bodyPr anchor="t" rtlCol="false" tIns="0" lIns="0" bIns="0" rIns="0">
            <a:spAutoFit/>
          </a:bodyPr>
          <a:lstStyle/>
          <a:p>
            <a:pPr algn="l" marL="0" indent="0" lvl="0">
              <a:lnSpc>
                <a:spcPts val="6999"/>
              </a:lnSpc>
              <a:spcBef>
                <a:spcPct val="0"/>
              </a:spcBef>
            </a:pPr>
            <a:r>
              <a:rPr lang="en-US" b="true" sz="6999" spc="-209" strike="noStrike" u="none">
                <a:solidFill>
                  <a:srgbClr val="ECF0F1"/>
                </a:solidFill>
                <a:latin typeface="Bricolage Grotesque Semi-Bold"/>
                <a:ea typeface="Bricolage Grotesque Semi-Bold"/>
                <a:cs typeface="Bricolage Grotesque Semi-Bold"/>
                <a:sym typeface="Bricolage Grotesque Semi-Bold"/>
              </a:rPr>
              <a:t>Conclusión</a:t>
            </a:r>
          </a:p>
        </p:txBody>
      </p:sp>
      <p:grpSp>
        <p:nvGrpSpPr>
          <p:cNvPr name="Group 4" id="4"/>
          <p:cNvGrpSpPr/>
          <p:nvPr/>
        </p:nvGrpSpPr>
        <p:grpSpPr>
          <a:xfrm rot="0">
            <a:off x="9296400" y="-103861"/>
            <a:ext cx="9198063" cy="10494722"/>
            <a:chOff x="0" y="0"/>
            <a:chExt cx="1425021" cy="1625907"/>
          </a:xfrm>
        </p:grpSpPr>
        <p:sp>
          <p:nvSpPr>
            <p:cNvPr name="Freeform 5" id="5"/>
            <p:cNvSpPr/>
            <p:nvPr/>
          </p:nvSpPr>
          <p:spPr>
            <a:xfrm flipH="false" flipV="false" rot="0">
              <a:off x="0" y="0"/>
              <a:ext cx="1425021" cy="1625907"/>
            </a:xfrm>
            <a:custGeom>
              <a:avLst/>
              <a:gdLst/>
              <a:ahLst/>
              <a:cxnLst/>
              <a:rect r="r" b="b" t="t" l="l"/>
              <a:pathLst>
                <a:path h="1625907" w="1425021">
                  <a:moveTo>
                    <a:pt x="0" y="0"/>
                  </a:moveTo>
                  <a:lnTo>
                    <a:pt x="1425021" y="0"/>
                  </a:lnTo>
                  <a:lnTo>
                    <a:pt x="1425021" y="1625907"/>
                  </a:lnTo>
                  <a:lnTo>
                    <a:pt x="0" y="1625907"/>
                  </a:lnTo>
                  <a:close/>
                </a:path>
              </a:pathLst>
            </a:custGeom>
            <a:blipFill>
              <a:blip r:embed="rId2"/>
              <a:stretch>
                <a:fillRect l="0" t="-154" r="0" b="-154"/>
              </a:stretch>
            </a:blipFill>
            <a:ln w="19050" cap="sq">
              <a:solidFill>
                <a:srgbClr val="FFFFFF"/>
              </a:solidFill>
              <a:prstDash val="solid"/>
              <a:miter/>
            </a:ln>
          </p:spPr>
        </p:sp>
      </p:grpSp>
      <p:grpSp>
        <p:nvGrpSpPr>
          <p:cNvPr name="Group 6" id="6"/>
          <p:cNvGrpSpPr/>
          <p:nvPr/>
        </p:nvGrpSpPr>
        <p:grpSpPr>
          <a:xfrm rot="0">
            <a:off x="7562871" y="6934200"/>
            <a:ext cx="3467057" cy="4305236"/>
            <a:chOff x="0" y="0"/>
            <a:chExt cx="4622743" cy="5740315"/>
          </a:xfrm>
        </p:grpSpPr>
        <p:sp>
          <p:nvSpPr>
            <p:cNvPr name="Freeform 7" id="7"/>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8100000">
              <a:off x="-106337" y="2577879"/>
              <a:ext cx="4835418" cy="1702128"/>
              <a:chOff x="0" y="0"/>
              <a:chExt cx="954623" cy="336039"/>
            </a:xfrm>
          </p:grpSpPr>
          <p:sp>
            <p:nvSpPr>
              <p:cNvPr name="Freeform 9" id="9"/>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E43F5A"/>
              </a:solidFill>
              <a:ln cap="sq">
                <a:noFill/>
                <a:prstDash val="solid"/>
                <a:miter/>
              </a:ln>
            </p:spPr>
          </p:sp>
          <p:sp>
            <p:nvSpPr>
              <p:cNvPr name="TextBox 10" id="10"/>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Presentación - Predicción de Éxito</dc:description>
  <dc:identifier>DAG2LUQKfiI</dc:identifier>
  <dcterms:modified xsi:type="dcterms:W3CDTF">2011-08-01T06:04:30Z</dcterms:modified>
  <cp:revision>1</cp:revision>
  <dc:title>Presentación - Predicción de Éxito</dc:title>
</cp:coreProperties>
</file>